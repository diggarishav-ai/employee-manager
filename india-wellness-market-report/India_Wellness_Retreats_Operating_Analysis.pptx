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Single occupancy</c:v>
                </c:pt>
              </c:strCache>
            </c:strRef>
          </c:tx>
          <c:spPr>
            <a:solidFill>
              <a:srgbClr val="C9A227"/>
            </a:solidFill>
            <a:effectLst/>
          </c:spPr>
          <c:invertIfNegative val="0"/>
          <c:dLbls>
            <c:numFmt formatCode="#,##0" sourceLinked="0"/>
            <c:txPr>
              <a:bodyPr/>
              <a:lstStyle/>
              <a:p>
                <a:pPr>
                  <a:defRPr b="0" i="0" strike="noStrike" sz="900" u="none">
                    <a:solidFill>
                      <a:srgbClr val="22282B"/>
                    </a:solidFill>
                    <a:latin typeface="Calibri"/>
                  </a:defRPr>
                </a:pPr>
              </a:p>
            </c:txPr>
            <c:showLegendKey val="0"/>
            <c:showVal val="1"/>
            <c:showCatName val="0"/>
            <c:showSerName val="0"/>
            <c:showPercent val="0"/>
            <c:showBubbleSize val="0"/>
            <c:showLeaderLines val="0"/>
          </c:dLbls>
          <c:cat>
            <c:multiLvlStrRef>
              <c:f>Sheet1!$A$2:$A$3</c:f>
              <c:multiLvlStrCache>
                <c:ptCount val="2"/>
                <c:lvl>
                  <c:pt idx="0">
                    <c:v>Jindal (per night)</c:v>
                  </c:pt>
                  <c:pt idx="1">
                    <c:v>Kalari Kovilakom (per night equiv.)</c:v>
                  </c:pt>
                </c:lvl>
              </c:multiLvlStrCache>
            </c:multiLvlStrRef>
          </c:cat>
          <c:val>
            <c:numRef>
              <c:f>Sheet1!$B$2:$B$3</c:f>
              <c:numCache>
                <c:formatCode>General</c:formatCode>
                <c:ptCount val="2"/>
                <c:pt idx="0">
                  <c:v>6000</c:v>
                </c:pt>
                <c:pt idx="1">
                  <c:v>73700</c:v>
                </c:pt>
              </c:numCache>
            </c:numRef>
          </c:val>
        </c:ser>
        <c:ser>
          <c:idx val="1"/>
          <c:order val="1"/>
          <c:tx>
            <c:strRef>
              <c:f>Sheet1!$C$1</c:f>
              <c:strCache>
                <c:ptCount val="1"/>
                <c:pt idx="0">
                  <c:v>Double occupancy</c:v>
                </c:pt>
              </c:strCache>
            </c:strRef>
          </c:tx>
          <c:spPr>
            <a:solidFill>
              <a:srgbClr val="1E3D2F"/>
            </a:solidFill>
            <a:effectLst/>
          </c:spPr>
          <c:invertIfNegative val="0"/>
          <c:dLbls>
            <c:numFmt formatCode="#,##0" sourceLinked="0"/>
            <c:txPr>
              <a:bodyPr/>
              <a:lstStyle/>
              <a:p>
                <a:pPr>
                  <a:defRPr b="0" i="0" strike="noStrike" sz="900" u="none">
                    <a:solidFill>
                      <a:srgbClr val="22282B"/>
                    </a:solidFill>
                    <a:latin typeface="Calibri"/>
                  </a:defRPr>
                </a:pPr>
              </a:p>
            </c:txPr>
            <c:showLegendKey val="0"/>
            <c:showVal val="1"/>
            <c:showCatName val="0"/>
            <c:showSerName val="0"/>
            <c:showPercent val="0"/>
            <c:showBubbleSize val="0"/>
            <c:showLeaderLines val="0"/>
          </c:dLbls>
          <c:cat>
            <c:multiLvlStrRef>
              <c:f>Sheet1!$A$2:$A$3</c:f>
              <c:multiLvlStrCache>
                <c:ptCount val="2"/>
                <c:lvl>
                  <c:pt idx="0">
                    <c:v>Jindal (per night)</c:v>
                  </c:pt>
                  <c:pt idx="1">
                    <c:v>Kalari Kovilakom (per night equiv.)</c:v>
                  </c:pt>
                </c:lvl>
              </c:multiLvlStrCache>
            </c:multiLvlStrRef>
          </c:cat>
          <c:val>
            <c:numRef>
              <c:f>Sheet1!$C$2:$C$3</c:f>
              <c:numCache>
                <c:formatCode>General</c:formatCode>
                <c:ptCount val="2"/>
                <c:pt idx="0">
                  <c:v>9000</c:v>
                </c:pt>
                <c:pt idx="1">
                  <c:v>43300</c:v>
                </c:pt>
              </c:numCache>
            </c:numRef>
          </c:val>
        </c:ser>
        <c:dLbls>
          <c:numFmt formatCode="#,##0" sourceLinked="0"/>
          <c:txPr>
            <a:bodyPr/>
            <a:lstStyle/>
            <a:p>
              <a:pPr>
                <a:defRPr b="0" i="0" strike="noStrike" sz="900" u="none">
                  <a:solidFill>
                    <a:srgbClr val="22282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22282B"/>
                </a:solidFill>
                <a:latin typeface="Calibri"/>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4E9E5"/>
              </a:solidFill>
              <a:prstDash val="solid"/>
              <a:round/>
            </a:ln>
          </c:spPr>
        </c:majorGridlines>
        <c:title>
          <c:tx>
            <c:rich>
              <a:bodyPr/>
              <a:lstStyle/>
              <a:p>
                <a:pPr>
                  <a:defRPr sz="1000" b="0" i="0" u="none" strike="noStrike">
                    <a:solidFill>
                      <a:srgbClr val="6B7671"/>
                    </a:solidFill>
                    <a:latin typeface="Calibri"/>
                  </a:defRPr>
                </a:pPr>
                <a:r>
                  <a:rPr sz="1000" b="0" i="0" u="none" strike="noStrike">
                    <a:solidFill>
                      <a:srgbClr val="6B7671"/>
                    </a:solidFill>
                    <a:latin typeface="Calibri"/>
                  </a:rPr>
                  <a:t>Rupees per person per night</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671"/>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Conventional Kerala leisure</c:v>
                </c:pt>
              </c:strCache>
            </c:strRef>
          </c:tx>
          <c:spPr>
            <a:solidFill>
              <a:srgbClr val="6B7671"/>
            </a:solidFill>
            <a:ln w="38100" cap="flat">
              <a:solidFill>
                <a:srgbClr val="6B767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6B7671"/>
              </a:solidFill>
              <a:ln w="9525" cap="flat">
                <a:solidFill>
                  <a:srgbClr val="6B7671"/>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88</c:v>
                </c:pt>
                <c:pt idx="1">
                  <c:v>85</c:v>
                </c:pt>
                <c:pt idx="2">
                  <c:v>72</c:v>
                </c:pt>
                <c:pt idx="3">
                  <c:v>58</c:v>
                </c:pt>
                <c:pt idx="4">
                  <c:v>45</c:v>
                </c:pt>
                <c:pt idx="5">
                  <c:v>32</c:v>
                </c:pt>
                <c:pt idx="6">
                  <c:v>30</c:v>
                </c:pt>
                <c:pt idx="7">
                  <c:v>35</c:v>
                </c:pt>
                <c:pt idx="8">
                  <c:v>45</c:v>
                </c:pt>
                <c:pt idx="9">
                  <c:v>62</c:v>
                </c:pt>
                <c:pt idx="10">
                  <c:v>80</c:v>
                </c:pt>
                <c:pt idx="11">
                  <c:v>92</c:v>
                </c:pt>
              </c:numCache>
            </c:numRef>
          </c:val>
          <c:smooth val="1"/>
        </c:ser>
        <c:ser>
          <c:idx val="1"/>
          <c:order val="1"/>
          <c:tx>
            <c:strRef>
              <c:f>Sheet1!$C$1</c:f>
              <c:strCache>
                <c:ptCount val="1"/>
                <c:pt idx="0">
                  <c:v>Kerala Ayurveda retreat</c:v>
                </c:pt>
              </c:strCache>
            </c:strRef>
          </c:tx>
          <c:spPr>
            <a:solidFill>
              <a:srgbClr val="1E3D2F"/>
            </a:solidFill>
            <a:ln w="38100" cap="flat">
              <a:solidFill>
                <a:srgbClr val="1E3D2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E3D2F"/>
              </a:solidFill>
              <a:ln w="9525" cap="flat">
                <a:solidFill>
                  <a:srgbClr val="1E3D2F"/>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Sheet1!$C$2:$C$13</c:f>
              <c:numCache>
                <c:formatCode>General</c:formatCode>
                <c:ptCount val="12"/>
                <c:pt idx="0">
                  <c:v>58</c:v>
                </c:pt>
                <c:pt idx="1">
                  <c:v>55</c:v>
                </c:pt>
                <c:pt idx="2">
                  <c:v>50</c:v>
                </c:pt>
                <c:pt idx="3">
                  <c:v>48</c:v>
                </c:pt>
                <c:pt idx="4">
                  <c:v>55</c:v>
                </c:pt>
                <c:pt idx="5">
                  <c:v>72</c:v>
                </c:pt>
                <c:pt idx="6">
                  <c:v>85</c:v>
                </c:pt>
                <c:pt idx="7">
                  <c:v>88</c:v>
                </c:pt>
                <c:pt idx="8">
                  <c:v>76</c:v>
                </c:pt>
                <c:pt idx="9">
                  <c:v>62</c:v>
                </c:pt>
                <c:pt idx="10">
                  <c:v>58</c:v>
                </c:pt>
                <c:pt idx="11">
                  <c:v>60</c:v>
                </c:pt>
              </c:numCache>
            </c:numRef>
          </c:val>
          <c:smooth val="1"/>
        </c:ser>
        <c:ser>
          <c:idx val="2"/>
          <c:order val="2"/>
          <c:tx>
            <c:strRef>
              <c:f>Sheet1!$D$1</c:f>
              <c:strCache>
                <c:ptCount val="1"/>
                <c:pt idx="0">
                  <c:v>Himalayan retreat</c:v>
                </c:pt>
              </c:strCache>
            </c:strRef>
          </c:tx>
          <c:spPr>
            <a:solidFill>
              <a:srgbClr val="C9A227"/>
            </a:solidFill>
            <a:ln w="38100" cap="flat">
              <a:solidFill>
                <a:srgbClr val="C9A22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C9A227"/>
              </a:solidFill>
              <a:ln w="9525" cap="flat">
                <a:solidFill>
                  <a:srgbClr val="C9A227"/>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Sheet1!$D$2:$D$13</c:f>
              <c:numCache>
                <c:formatCode>General</c:formatCode>
                <c:ptCount val="12"/>
                <c:pt idx="0">
                  <c:v>42</c:v>
                </c:pt>
                <c:pt idx="1">
                  <c:v>48</c:v>
                </c:pt>
                <c:pt idx="2">
                  <c:v>62</c:v>
                </c:pt>
                <c:pt idx="3">
                  <c:v>74</c:v>
                </c:pt>
                <c:pt idx="4">
                  <c:v>80</c:v>
                </c:pt>
                <c:pt idx="5">
                  <c:v>70</c:v>
                </c:pt>
                <c:pt idx="6">
                  <c:v>52</c:v>
                </c:pt>
                <c:pt idx="7">
                  <c:v>50</c:v>
                </c:pt>
                <c:pt idx="8">
                  <c:v>68</c:v>
                </c:pt>
                <c:pt idx="9">
                  <c:v>82</c:v>
                </c:pt>
                <c:pt idx="10">
                  <c:v>74</c:v>
                </c:pt>
                <c:pt idx="11">
                  <c:v>55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22282B"/>
                </a:solidFill>
                <a:latin typeface="Calibri"/>
              </a:defRPr>
            </a:pPr>
            <a:endParaRPr lang="en-US"/>
          </a:p>
        </c:txPr>
        <c:crossAx val="2094734552"/>
        <c:crosses val="autoZero"/>
        <c:auto val="1"/>
        <c:lblAlgn val="ctr"/>
        <c:noMultiLvlLbl val="1"/>
      </c:catAx>
      <c:valAx>
        <c:axId val="2094734552"/>
        <c:scaling>
          <c:orientation val="minMax"/>
          <c:max val="100"/>
          <c:min val="20"/>
        </c:scaling>
        <c:delete val="0"/>
        <c:axPos val="l"/>
        <c:majorGridlines>
          <c:spPr>
            <a:ln w="12700" cap="flat">
              <a:solidFill>
                <a:srgbClr val="E4E9E5"/>
              </a:solidFill>
              <a:prstDash val="solid"/>
              <a:round/>
            </a:ln>
          </c:spPr>
        </c:majorGridlines>
        <c:title>
          <c:tx>
            <c:rich>
              <a:bodyPr/>
              <a:lstStyle/>
              <a:p>
                <a:pPr>
                  <a:defRPr sz="1000" b="0" i="0" u="none" strike="noStrike">
                    <a:solidFill>
                      <a:srgbClr val="6B7671"/>
                    </a:solidFill>
                    <a:latin typeface="Calibri"/>
                  </a:defRPr>
                </a:pPr>
                <a:r>
                  <a:rPr sz="1000" b="0" i="0" u="none" strike="noStrike">
                    <a:solidFill>
                      <a:srgbClr val="6B7671"/>
                    </a:solidFill>
                    <a:latin typeface="Calibri"/>
                  </a:rPr>
                  <a:t>Indexed demand</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671"/>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0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Keys</c:v>
                </c:pt>
              </c:strCache>
            </c:strRef>
          </c:tx>
          <c:spPr>
            <a:solidFill>
              <a:srgbClr val="1E3D2F"/>
            </a:solidFill>
            <a:effectLst/>
          </c:spPr>
          <c:invertIfNegative val="0"/>
          <c:dLbls>
            <c:numFmt formatCode="#,##0" sourceLinked="0"/>
            <c:txPr>
              <a:bodyPr/>
              <a:lstStyle/>
              <a:p>
                <a:pPr>
                  <a:defRPr b="0" i="0" strike="noStrike" sz="1000" u="none">
                    <a:solidFill>
                      <a:srgbClr val="22282B"/>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Patanjali Yog Gram</c:v>
                  </c:pt>
                  <c:pt idx="1">
                    <c:v>Jindal Naturecure</c:v>
                  </c:pt>
                  <c:pt idx="2">
                    <c:v>Atmantan</c:v>
                  </c:pt>
                  <c:pt idx="3">
                    <c:v>Six Senses Vana</c:v>
                  </c:pt>
                  <c:pt idx="4">
                    <c:v>Ananda</c:v>
                  </c:pt>
                  <c:pt idx="5">
                    <c:v>Kairali</c:v>
                  </c:pt>
                  <c:pt idx="6">
                    <c:v>AyurvedaGram</c:v>
                  </c:pt>
                  <c:pt idx="7">
                    <c:v>Niraamaya Surya Samudra</c:v>
                  </c:pt>
                  <c:pt idx="8">
                    <c:v>SOUKYA</c:v>
                  </c:pt>
                  <c:pt idx="9">
                    <c:v>Prakriti Shakti</c:v>
                  </c:pt>
                </c:lvl>
              </c:multiLvlStrCache>
            </c:multiLvlStrRef>
          </c:cat>
          <c:val>
            <c:numRef>
              <c:f>Sheet1!$B$2:$B$11</c:f>
              <c:numCache>
                <c:formatCode>General</c:formatCode>
                <c:ptCount val="10"/>
                <c:pt idx="0">
                  <c:v>1212</c:v>
                </c:pt>
                <c:pt idx="1">
                  <c:v>219</c:v>
                </c:pt>
                <c:pt idx="2">
                  <c:v>97</c:v>
                </c:pt>
                <c:pt idx="3">
                  <c:v>82</c:v>
                </c:pt>
                <c:pt idx="4">
                  <c:v>78</c:v>
                </c:pt>
                <c:pt idx="5">
                  <c:v>30</c:v>
                </c:pt>
                <c:pt idx="6">
                  <c:v>28</c:v>
                </c:pt>
                <c:pt idx="7">
                  <c:v>27</c:v>
                </c:pt>
                <c:pt idx="8">
                  <c:v>25</c:v>
                </c:pt>
                <c:pt idx="9">
                  <c:v>19</c:v>
                </c:pt>
              </c:numCache>
            </c:numRef>
          </c:val>
        </c:ser>
        <c:dLbls>
          <c:numFmt formatCode="#,##0" sourceLinked="0"/>
          <c:txPr>
            <a:bodyPr/>
            <a:lstStyle/>
            <a:p>
              <a:pPr>
                <a:defRPr b="0" i="0" strike="noStrike" sz="1000" u="none">
                  <a:solidFill>
                    <a:srgbClr val="22282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2282B"/>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4E9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671"/>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Keys per acre</c:v>
                </c:pt>
              </c:strCache>
            </c:strRef>
          </c:tx>
          <c:spPr>
            <a:solidFill>
              <a:srgbClr val="7FA88B"/>
            </a:solidFill>
            <a:effectLst/>
          </c:spPr>
          <c:invertIfNegative val="0"/>
          <c:dLbls>
            <c:numFmt formatCode="0.00" sourceLinked="0"/>
            <c:txPr>
              <a:bodyPr/>
              <a:lstStyle/>
              <a:p>
                <a:pPr>
                  <a:defRPr b="0" i="0" strike="noStrike" sz="1000" u="none">
                    <a:solidFill>
                      <a:srgbClr val="22282B"/>
                    </a:solidFill>
                    <a:latin typeface="Calibri"/>
                  </a:defRPr>
                </a:pPr>
              </a:p>
            </c:txPr>
            <c:showLegendKey val="0"/>
            <c:showVal val="1"/>
            <c:showCatName val="0"/>
            <c:showSerName val="0"/>
            <c:showPercent val="0"/>
            <c:showBubbleSize val="0"/>
            <c:showLeaderLines val="0"/>
          </c:dLbls>
          <c:cat>
            <c:multiLvlStrRef>
              <c:f>Sheet1!$A$2:$A$8</c:f>
              <c:multiLvlStrCache>
                <c:ptCount val="7"/>
                <c:lvl>
                  <c:pt idx="0">
                    <c:v>AyurvedaGram (28 keys / 7 ac)</c:v>
                  </c:pt>
                  <c:pt idx="1">
                    <c:v>Six Senses Vana (82 / 21)</c:v>
                  </c:pt>
                  <c:pt idx="2">
                    <c:v>Atmantan (97 / 36)</c:v>
                  </c:pt>
                  <c:pt idx="3">
                    <c:v>Jindal (219 / 130)</c:v>
                  </c:pt>
                  <c:pt idx="4">
                    <c:v>SOUKYA (25 / 30)</c:v>
                  </c:pt>
                  <c:pt idx="5">
                    <c:v>Ananda (78 / 100)</c:v>
                  </c:pt>
                  <c:pt idx="6">
                    <c:v>Kairali (30 / 65)</c:v>
                  </c:pt>
                </c:lvl>
              </c:multiLvlStrCache>
            </c:multiLvlStrRef>
          </c:cat>
          <c:val>
            <c:numRef>
              <c:f>Sheet1!$B$2:$B$8</c:f>
              <c:numCache>
                <c:formatCode>General</c:formatCode>
                <c:ptCount val="7"/>
                <c:pt idx="0">
                  <c:v>4</c:v>
                </c:pt>
                <c:pt idx="1">
                  <c:v>3.9</c:v>
                </c:pt>
                <c:pt idx="2">
                  <c:v>2.69</c:v>
                </c:pt>
                <c:pt idx="3">
                  <c:v>1.68</c:v>
                </c:pt>
                <c:pt idx="4">
                  <c:v>0.83</c:v>
                </c:pt>
                <c:pt idx="5">
                  <c:v>0.78</c:v>
                </c:pt>
                <c:pt idx="6">
                  <c:v>0.46</c:v>
                </c:pt>
              </c:numCache>
            </c:numRef>
          </c:val>
        </c:ser>
        <c:dLbls>
          <c:numFmt formatCode="0.00" sourceLinked="0"/>
          <c:txPr>
            <a:bodyPr/>
            <a:lstStyle/>
            <a:p>
              <a:pPr>
                <a:defRPr b="0" i="0" strike="noStrike" sz="1000" u="none">
                  <a:solidFill>
                    <a:srgbClr val="22282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22282B"/>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4E9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671"/>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 per person per night (all-in)</c:v>
                </c:pt>
              </c:strCache>
            </c:strRef>
          </c:tx>
          <c:spPr>
            <a:solidFill>
              <a:srgbClr val="1E3D2F"/>
            </a:solidFill>
            <a:effectLst/>
          </c:spPr>
          <c:invertIfNegative val="0"/>
          <c:dLbls>
            <c:numFmt formatCode="&quot;₹&quot;#,##0" sourceLinked="0"/>
            <c:txPr>
              <a:bodyPr/>
              <a:lstStyle/>
              <a:p>
                <a:pPr>
                  <a:defRPr b="0" i="0" strike="noStrike" sz="1000" u="none">
                    <a:solidFill>
                      <a:srgbClr val="22282B"/>
                    </a:solidFill>
                    <a:latin typeface="Calibri"/>
                  </a:defRPr>
                </a:pPr>
              </a:p>
            </c:txPr>
            <c:showLegendKey val="0"/>
            <c:showVal val="1"/>
            <c:showCatName val="0"/>
            <c:showSerName val="0"/>
            <c:showPercent val="0"/>
            <c:showBubbleSize val="0"/>
            <c:showLeaderLines val="0"/>
          </c:dLbls>
          <c:cat>
            <c:multiLvlStrRef>
              <c:f>Sheet1!$A$2:$A$8</c:f>
              <c:multiLvlStrCache>
                <c:ptCount val="7"/>
                <c:lvl>
                  <c:pt idx="0">
                    <c:v>Six Senses Vana</c:v>
                  </c:pt>
                  <c:pt idx="1">
                    <c:v>Kalari Kovilakom (dbl)</c:v>
                  </c:pt>
                  <c:pt idx="2">
                    <c:v>Atmantan (modelled)</c:v>
                  </c:pt>
                  <c:pt idx="3">
                    <c:v>SOUKYA (low end)</c:v>
                  </c:pt>
                  <c:pt idx="4">
                    <c:v>Nimba (high)</c:v>
                  </c:pt>
                  <c:pt idx="5">
                    <c:v>Nimba (low)</c:v>
                  </c:pt>
                  <c:pt idx="6">
                    <c:v>Jindal (room + treatment)</c:v>
                  </c:pt>
                </c:lvl>
              </c:multiLvlStrCache>
            </c:multiLvlStrRef>
          </c:cat>
          <c:val>
            <c:numRef>
              <c:f>Sheet1!$B$2:$B$8</c:f>
              <c:numCache>
                <c:formatCode>General</c:formatCode>
                <c:ptCount val="7"/>
                <c:pt idx="0">
                  <c:v>48450</c:v>
                </c:pt>
                <c:pt idx="1">
                  <c:v>43300</c:v>
                </c:pt>
                <c:pt idx="2">
                  <c:v>33300</c:v>
                </c:pt>
                <c:pt idx="3">
                  <c:v>22100</c:v>
                </c:pt>
                <c:pt idx="4">
                  <c:v>17000</c:v>
                </c:pt>
                <c:pt idx="5">
                  <c:v>9500</c:v>
                </c:pt>
                <c:pt idx="6">
                  <c:v>8500</c:v>
                </c:pt>
              </c:numCache>
            </c:numRef>
          </c:val>
        </c:ser>
        <c:dLbls>
          <c:numFmt formatCode="&quot;₹&quot;#,##0" sourceLinked="0"/>
          <c:txPr>
            <a:bodyPr/>
            <a:lstStyle/>
            <a:p>
              <a:pPr>
                <a:defRPr b="0" i="0" strike="noStrike" sz="1000" u="none">
                  <a:solidFill>
                    <a:srgbClr val="22282B"/>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22282B"/>
                </a:solidFill>
                <a:latin typeface="Calibri"/>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4E9E5"/>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6B7671"/>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B is the analytical spine. Report A (the landowner deck) asserts; this one 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D2F"/>
        </a:solidFill>
      </p:bgPr>
    </p:bg>
    <p:spTree>
      <p:nvGrpSpPr>
        <p:cNvPr id="1" name=""/>
        <p:cNvGrpSpPr/>
        <p:nvPr/>
      </p:nvGrpSpPr>
      <p:grpSpPr>
        <a:xfrm>
          <a:off x="0" y="0"/>
          <a:ext cx="0" cy="0"/>
          <a:chOff x="0" y="0"/>
          <a:chExt cx="0" cy="0"/>
        </a:xfrm>
      </p:grpSpPr>
      <p:sp>
        <p:nvSpPr>
          <p:cNvPr id="2" name="Shape 0"/>
          <p:cNvSpPr/>
          <p:nvPr/>
        </p:nvSpPr>
        <p:spPr>
          <a:xfrm>
            <a:off x="8412480" y="-1737360"/>
            <a:ext cx="5669280" cy="5669280"/>
          </a:xfrm>
          <a:prstGeom prst="ellipse">
            <a:avLst/>
          </a:prstGeom>
          <a:solidFill>
            <a:srgbClr val="2A5240"/>
          </a:solidFill>
          <a:ln w="12700">
            <a:solidFill>
              <a:srgbClr val="2A5240"/>
            </a:solidFill>
            <a:prstDash val="solid"/>
          </a:ln>
        </p:spPr>
      </p:sp>
      <p:sp>
        <p:nvSpPr>
          <p:cNvPr id="3" name="Shape 1"/>
          <p:cNvSpPr/>
          <p:nvPr/>
        </p:nvSpPr>
        <p:spPr>
          <a:xfrm>
            <a:off x="9966960" y="3291840"/>
            <a:ext cx="3291840" cy="3291840"/>
          </a:xfrm>
          <a:prstGeom prst="ellipse">
            <a:avLst/>
          </a:prstGeom>
          <a:solidFill>
            <a:srgbClr val="27493A"/>
          </a:solidFill>
          <a:ln w="12700">
            <a:solidFill>
              <a:srgbClr val="27493A"/>
            </a:solidFill>
            <a:prstDash val="solid"/>
          </a:ln>
        </p:spPr>
      </p:sp>
      <p:sp>
        <p:nvSpPr>
          <p:cNvPr id="4" name="Text 2"/>
          <p:cNvSpPr/>
          <p:nvPr/>
        </p:nvSpPr>
        <p:spPr>
          <a:xfrm>
            <a:off x="548640" y="1371600"/>
            <a:ext cx="731520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REPORT B</a:t>
            </a:r>
            <a:endParaRPr lang="en-US" sz="1200" dirty="0"/>
          </a:p>
        </p:txBody>
      </p:sp>
      <p:sp>
        <p:nvSpPr>
          <p:cNvPr id="5" name="Text 3"/>
          <p:cNvSpPr/>
          <p:nvPr/>
        </p:nvSpPr>
        <p:spPr>
          <a:xfrm>
            <a:off x="548640" y="1783080"/>
            <a:ext cx="7863840" cy="91440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India Wellness Retreats</a:t>
            </a:r>
            <a:endParaRPr lang="en-US" sz="4600" dirty="0"/>
          </a:p>
        </p:txBody>
      </p:sp>
      <p:sp>
        <p:nvSpPr>
          <p:cNvPr id="6" name="Text 4"/>
          <p:cNvSpPr/>
          <p:nvPr/>
        </p:nvSpPr>
        <p:spPr>
          <a:xfrm>
            <a:off x="548640" y="2743200"/>
            <a:ext cx="7498080" cy="731520"/>
          </a:xfrm>
          <a:prstGeom prst="rect">
            <a:avLst/>
          </a:prstGeom>
          <a:noFill/>
          <a:ln/>
        </p:spPr>
        <p:txBody>
          <a:bodyPr wrap="square" lIns="0" tIns="0" rIns="0" bIns="0" rtlCol="0" anchor="ctr"/>
          <a:lstStyle/>
          <a:p>
            <a:pPr indent="0" marL="0">
              <a:buNone/>
            </a:pPr>
            <a:r>
              <a:rPr lang="en-US" sz="1800" dirty="0">
                <a:solidFill>
                  <a:srgbClr val="C3D6C8"/>
                </a:solidFill>
                <a:latin typeface="Calibri" pitchFamily="34" charset="0"/>
                <a:ea typeface="Calibri" pitchFamily="34" charset="-122"/>
                <a:cs typeface="Calibri" pitchFamily="34" charset="-120"/>
              </a:rPr>
              <a:t>Opportunity &amp; operating performance across a 24-property panel</a:t>
            </a:r>
            <a:endParaRPr lang="en-US" sz="1800" dirty="0"/>
          </a:p>
        </p:txBody>
      </p:sp>
      <p:sp>
        <p:nvSpPr>
          <p:cNvPr id="7" name="Shape 5"/>
          <p:cNvSpPr/>
          <p:nvPr/>
        </p:nvSpPr>
        <p:spPr>
          <a:xfrm>
            <a:off x="548640" y="3703320"/>
            <a:ext cx="1280160" cy="32004"/>
          </a:xfrm>
          <a:prstGeom prst="rect">
            <a:avLst/>
          </a:prstGeom>
          <a:solidFill>
            <a:srgbClr val="C9A227"/>
          </a:solidFill>
          <a:ln w="12700">
            <a:solidFill>
              <a:srgbClr val="C9A227"/>
            </a:solidFill>
            <a:prstDash val="solid"/>
          </a:ln>
        </p:spPr>
      </p:sp>
      <p:sp>
        <p:nvSpPr>
          <p:cNvPr id="8" name="Text 6"/>
          <p:cNvSpPr/>
          <p:nvPr/>
        </p:nvSpPr>
        <p:spPr>
          <a:xfrm>
            <a:off x="548640" y="3977640"/>
            <a:ext cx="7498080" cy="365760"/>
          </a:xfrm>
          <a:prstGeom prst="rect">
            <a:avLst/>
          </a:prstGeom>
          <a:noFill/>
          <a:ln/>
        </p:spPr>
        <p:txBody>
          <a:bodyPr wrap="square" lIns="0" tIns="0" rIns="0" bIns="0" rtlCol="0" anchor="ctr"/>
          <a:lstStyle/>
          <a:p>
            <a:pPr indent="0" marL="0">
              <a:buNone/>
            </a:pPr>
            <a:r>
              <a:rPr lang="en-US" sz="1300" dirty="0">
                <a:solidFill>
                  <a:srgbClr val="7FA88B"/>
                </a:solidFill>
                <a:latin typeface="Calibri" pitchFamily="34" charset="0"/>
                <a:ea typeface="Calibri" pitchFamily="34" charset="-122"/>
                <a:cs typeface="Calibri" pitchFamily="34" charset="-120"/>
              </a:rPr>
              <a:t>Occupancy · business model · revenue estimates · pricing · capital efficiency</a:t>
            </a:r>
            <a:endParaRPr lang="en-US" sz="1300" dirty="0"/>
          </a:p>
        </p:txBody>
      </p:sp>
      <p:sp>
        <p:nvSpPr>
          <p:cNvPr id="9" name="Text 7"/>
          <p:cNvSpPr/>
          <p:nvPr/>
        </p:nvSpPr>
        <p:spPr>
          <a:xfrm>
            <a:off x="548640" y="5943600"/>
            <a:ext cx="8229600" cy="274320"/>
          </a:xfrm>
          <a:prstGeom prst="rect">
            <a:avLst/>
          </a:prstGeom>
          <a:noFill/>
          <a:ln/>
        </p:spPr>
        <p:txBody>
          <a:bodyPr wrap="square" lIns="0" tIns="0" rIns="0" bIns="0" rtlCol="0" anchor="ctr"/>
          <a:lstStyle/>
          <a:p>
            <a:pPr indent="0" marL="0">
              <a:buNone/>
            </a:pPr>
            <a:r>
              <a:rPr lang="en-US" sz="1100" dirty="0">
                <a:solidFill>
                  <a:srgbClr val="6B7671"/>
                </a:solidFill>
                <a:latin typeface="Calibri" pitchFamily="34" charset="0"/>
                <a:ea typeface="Calibri" pitchFamily="34" charset="-122"/>
                <a:cs typeface="Calibri" pitchFamily="34" charset="-120"/>
              </a:rPr>
              <a:t>Evidence base for the landowner opportunity view (Report A)   ·   v1 working draft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1064240" cy="237744"/>
          </a:xfrm>
          <a:prstGeom prst="rect">
            <a:avLst/>
          </a:prstGeom>
          <a:noFill/>
          <a:ln/>
        </p:spPr>
        <p:txBody>
          <a:bodyPr wrap="square" lIns="0" tIns="0" rIns="0" bIns="0" rtlCol="0" anchor="ctr"/>
          <a:lstStyle/>
          <a:p>
            <a:pPr indent="0" marL="0">
              <a:buNone/>
            </a:pPr>
            <a:r>
              <a:rPr lang="en-US" sz="1100" b="1" spc="200" kern="0" dirty="0">
                <a:solidFill>
                  <a:srgbClr val="7FA88B"/>
                </a:solidFill>
                <a:latin typeface="Calibri" pitchFamily="34" charset="0"/>
                <a:ea typeface="Calibri" pitchFamily="34" charset="-122"/>
                <a:cs typeface="Calibri" pitchFamily="34" charset="-120"/>
              </a:rPr>
              <a:t>THE CENTRAL PROBLEM</a:t>
            </a:r>
            <a:endParaRPr lang="en-US" sz="11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200" b="1" dirty="0">
                <a:solidFill>
                  <a:srgbClr val="1E3D2F"/>
                </a:solidFill>
                <a:latin typeface="Cambria" pitchFamily="34" charset="0"/>
                <a:ea typeface="Cambria" pitchFamily="34" charset="-122"/>
                <a:cs typeface="Cambria" pitchFamily="34" charset="-120"/>
              </a:rPr>
              <a:t>Indian retreats publish pricing. None publish occupancy or revenue.</a:t>
            </a:r>
            <a:endParaRPr lang="en-US" sz="3200" dirty="0"/>
          </a:p>
        </p:txBody>
      </p:sp>
      <p:sp>
        <p:nvSpPr>
          <p:cNvPr id="4" name="Text 2"/>
          <p:cNvSpPr/>
          <p:nvPr/>
        </p:nvSpPr>
        <p:spPr>
          <a:xfrm>
            <a:off x="548640" y="1481328"/>
            <a:ext cx="10424160" cy="548640"/>
          </a:xfrm>
          <a:prstGeom prst="rect">
            <a:avLst/>
          </a:prstGeom>
          <a:noFill/>
          <a:ln/>
        </p:spPr>
        <p:txBody>
          <a:bodyPr wrap="square" lIns="0" tIns="0" rIns="0" bIns="0" rtlCol="0" anchor="ctr"/>
          <a:lstStyle/>
          <a:p>
            <a:pPr indent="0" marL="0">
              <a:buNone/>
            </a:pPr>
            <a:r>
              <a:rPr lang="en-US" sz="1500" dirty="0">
                <a:solidFill>
                  <a:srgbClr val="22282B"/>
                </a:solidFill>
                <a:latin typeface="Calibri" pitchFamily="34" charset="0"/>
                <a:ea typeface="Calibri" pitchFamily="34" charset="-122"/>
                <a:cs typeface="Calibri" pitchFamily="34" charset="-120"/>
              </a:rPr>
              <a:t>Any occupancy or revenue figure quoted for these properties without a stated method is a guess. This analysis shows its method and labels every single figure with a confidence tier.</a:t>
            </a:r>
            <a:endParaRPr lang="en-US" sz="1500" dirty="0"/>
          </a:p>
        </p:txBody>
      </p:sp>
      <p:sp>
        <p:nvSpPr>
          <p:cNvPr id="5" name="Shape 3"/>
          <p:cNvSpPr/>
          <p:nvPr/>
        </p:nvSpPr>
        <p:spPr>
          <a:xfrm>
            <a:off x="548640" y="2286000"/>
            <a:ext cx="10424160" cy="786384"/>
          </a:xfrm>
          <a:prstGeom prst="roundRect">
            <a:avLst>
              <a:gd name="adj" fmla="val 6977"/>
            </a:avLst>
          </a:prstGeom>
          <a:solidFill>
            <a:srgbClr val="F7F5F0"/>
          </a:solidFill>
          <a:ln w="9525">
            <a:solidFill>
              <a:srgbClr val="C3D6C8"/>
            </a:solidFill>
            <a:prstDash val="solid"/>
          </a:ln>
        </p:spPr>
      </p:sp>
      <p:sp>
        <p:nvSpPr>
          <p:cNvPr id="6" name="Shape 4"/>
          <p:cNvSpPr/>
          <p:nvPr/>
        </p:nvSpPr>
        <p:spPr>
          <a:xfrm>
            <a:off x="749808" y="2459736"/>
            <a:ext cx="438912" cy="438912"/>
          </a:xfrm>
          <a:prstGeom prst="ellipse">
            <a:avLst/>
          </a:prstGeom>
          <a:solidFill>
            <a:srgbClr val="1E3D2F"/>
          </a:solidFill>
          <a:ln w="12700">
            <a:solidFill>
              <a:srgbClr val="1E3D2F"/>
            </a:solidFill>
            <a:prstDash val="solid"/>
          </a:ln>
        </p:spPr>
      </p:sp>
      <p:sp>
        <p:nvSpPr>
          <p:cNvPr id="7" name="Text 5"/>
          <p:cNvSpPr/>
          <p:nvPr/>
        </p:nvSpPr>
        <p:spPr>
          <a:xfrm>
            <a:off x="749808" y="2459736"/>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T1</a:t>
            </a:r>
            <a:endParaRPr lang="en-US" sz="1200" dirty="0"/>
          </a:p>
        </p:txBody>
      </p:sp>
      <p:sp>
        <p:nvSpPr>
          <p:cNvPr id="8" name="Text 6"/>
          <p:cNvSpPr/>
          <p:nvPr/>
        </p:nvSpPr>
        <p:spPr>
          <a:xfrm>
            <a:off x="1353312" y="2414016"/>
            <a:ext cx="1371600" cy="274320"/>
          </a:xfrm>
          <a:prstGeom prst="rect">
            <a:avLst/>
          </a:prstGeom>
          <a:noFill/>
          <a:ln/>
        </p:spPr>
        <p:txBody>
          <a:bodyPr wrap="square" lIns="0" tIns="0" rIns="0" bIns="0" rtlCol="0" anchor="ctr"/>
          <a:lstStyle/>
          <a:p>
            <a:pPr indent="0" marL="0">
              <a:buNone/>
            </a:pPr>
            <a:r>
              <a:rPr lang="en-US" sz="1400" b="1" dirty="0">
                <a:solidFill>
                  <a:srgbClr val="1E3D2F"/>
                </a:solidFill>
                <a:latin typeface="Calibri" pitchFamily="34" charset="0"/>
                <a:ea typeface="Calibri" pitchFamily="34" charset="-122"/>
                <a:cs typeface="Calibri" pitchFamily="34" charset="-120"/>
              </a:rPr>
              <a:t>Hard</a:t>
            </a:r>
            <a:endParaRPr lang="en-US" sz="1400" dirty="0"/>
          </a:p>
        </p:txBody>
      </p:sp>
      <p:sp>
        <p:nvSpPr>
          <p:cNvPr id="9" name="Text 7"/>
          <p:cNvSpPr/>
          <p:nvPr/>
        </p:nvSpPr>
        <p:spPr>
          <a:xfrm>
            <a:off x="2743200" y="2414016"/>
            <a:ext cx="5029200" cy="548640"/>
          </a:xfrm>
          <a:prstGeom prst="rect">
            <a:avLst/>
          </a:prstGeom>
          <a:noFill/>
          <a:ln/>
        </p:spPr>
        <p:txBody>
          <a:bodyPr wrap="square" lIns="0" tIns="0" rIns="0" bIns="0" rtlCol="0" anchor="t"/>
          <a:lstStyle/>
          <a:p>
            <a:pPr indent="0" marL="0">
              <a:buNone/>
            </a:pPr>
            <a:r>
              <a:rPr lang="en-US" sz="1200" dirty="0">
                <a:solidFill>
                  <a:srgbClr val="22282B"/>
                </a:solidFill>
                <a:latin typeface="Calibri" pitchFamily="34" charset="0"/>
                <a:ea typeface="Calibri" pitchFamily="34" charset="-122"/>
                <a:cs typeface="Calibri" pitchFamily="34" charset="-120"/>
              </a:rPr>
              <a:t>Rate cards, key counts, deal filings, audited financials</a:t>
            </a:r>
            <a:endParaRPr lang="en-US" sz="1200" dirty="0"/>
          </a:p>
        </p:txBody>
      </p:sp>
      <p:sp>
        <p:nvSpPr>
          <p:cNvPr id="10" name="Text 8"/>
          <p:cNvSpPr/>
          <p:nvPr/>
        </p:nvSpPr>
        <p:spPr>
          <a:xfrm>
            <a:off x="7863840" y="2414016"/>
            <a:ext cx="2926080" cy="548640"/>
          </a:xfrm>
          <a:prstGeom prst="rect">
            <a:avLst/>
          </a:prstGeom>
          <a:noFill/>
          <a:ln/>
        </p:spPr>
        <p:txBody>
          <a:bodyPr wrap="square" lIns="0" tIns="0" rIns="0" bIns="0" rtlCol="0" anchor="t"/>
          <a:lstStyle/>
          <a:p>
            <a:pPr indent="0" marL="0">
              <a:buNone/>
            </a:pPr>
            <a:r>
              <a:rPr lang="en-US" sz="1200" i="1" dirty="0">
                <a:solidFill>
                  <a:srgbClr val="6B7671"/>
                </a:solidFill>
                <a:latin typeface="Calibri" pitchFamily="34" charset="0"/>
                <a:ea typeface="Calibri" pitchFamily="34" charset="-122"/>
                <a:cs typeface="Calibri" pitchFamily="34" charset="-120"/>
              </a:rPr>
              <a:t>Treat as fact</a:t>
            </a:r>
            <a:endParaRPr lang="en-US" sz="1200" dirty="0"/>
          </a:p>
        </p:txBody>
      </p:sp>
      <p:sp>
        <p:nvSpPr>
          <p:cNvPr id="11" name="Shape 9"/>
          <p:cNvSpPr/>
          <p:nvPr/>
        </p:nvSpPr>
        <p:spPr>
          <a:xfrm>
            <a:off x="548640" y="3182112"/>
            <a:ext cx="10424160" cy="786384"/>
          </a:xfrm>
          <a:prstGeom prst="roundRect">
            <a:avLst>
              <a:gd name="adj" fmla="val 6977"/>
            </a:avLst>
          </a:prstGeom>
          <a:solidFill>
            <a:srgbClr val="F7F5F0"/>
          </a:solidFill>
          <a:ln w="9525">
            <a:solidFill>
              <a:srgbClr val="C3D6C8"/>
            </a:solidFill>
            <a:prstDash val="solid"/>
          </a:ln>
        </p:spPr>
      </p:sp>
      <p:sp>
        <p:nvSpPr>
          <p:cNvPr id="12" name="Shape 10"/>
          <p:cNvSpPr/>
          <p:nvPr/>
        </p:nvSpPr>
        <p:spPr>
          <a:xfrm>
            <a:off x="749808" y="3355848"/>
            <a:ext cx="438912" cy="438912"/>
          </a:xfrm>
          <a:prstGeom prst="ellipse">
            <a:avLst/>
          </a:prstGeom>
          <a:solidFill>
            <a:srgbClr val="7FA88B"/>
          </a:solidFill>
          <a:ln w="12700">
            <a:solidFill>
              <a:srgbClr val="7FA88B"/>
            </a:solidFill>
            <a:prstDash val="solid"/>
          </a:ln>
        </p:spPr>
      </p:sp>
      <p:sp>
        <p:nvSpPr>
          <p:cNvPr id="13" name="Text 11"/>
          <p:cNvSpPr/>
          <p:nvPr/>
        </p:nvSpPr>
        <p:spPr>
          <a:xfrm>
            <a:off x="749808" y="3355848"/>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T2</a:t>
            </a:r>
            <a:endParaRPr lang="en-US" sz="1200" dirty="0"/>
          </a:p>
        </p:txBody>
      </p:sp>
      <p:sp>
        <p:nvSpPr>
          <p:cNvPr id="14" name="Text 12"/>
          <p:cNvSpPr/>
          <p:nvPr/>
        </p:nvSpPr>
        <p:spPr>
          <a:xfrm>
            <a:off x="1353312" y="3310128"/>
            <a:ext cx="1371600" cy="274320"/>
          </a:xfrm>
          <a:prstGeom prst="rect">
            <a:avLst/>
          </a:prstGeom>
          <a:noFill/>
          <a:ln/>
        </p:spPr>
        <p:txBody>
          <a:bodyPr wrap="square" lIns="0" tIns="0" rIns="0" bIns="0" rtlCol="0" anchor="ctr"/>
          <a:lstStyle/>
          <a:p>
            <a:pPr indent="0" marL="0">
              <a:buNone/>
            </a:pPr>
            <a:r>
              <a:rPr lang="en-US" sz="1400" b="1" dirty="0">
                <a:solidFill>
                  <a:srgbClr val="1E3D2F"/>
                </a:solidFill>
                <a:latin typeface="Calibri" pitchFamily="34" charset="0"/>
                <a:ea typeface="Calibri" pitchFamily="34" charset="-122"/>
                <a:cs typeface="Calibri" pitchFamily="34" charset="-120"/>
              </a:rPr>
              <a:t>Derived</a:t>
            </a:r>
            <a:endParaRPr lang="en-US" sz="1400" dirty="0"/>
          </a:p>
        </p:txBody>
      </p:sp>
      <p:sp>
        <p:nvSpPr>
          <p:cNvPr id="15" name="Text 13"/>
          <p:cNvSpPr/>
          <p:nvPr/>
        </p:nvSpPr>
        <p:spPr>
          <a:xfrm>
            <a:off x="2743200" y="3310128"/>
            <a:ext cx="5029200" cy="548640"/>
          </a:xfrm>
          <a:prstGeom prst="rect">
            <a:avLst/>
          </a:prstGeom>
          <a:noFill/>
          <a:ln/>
        </p:spPr>
        <p:txBody>
          <a:bodyPr wrap="square" lIns="0" tIns="0" rIns="0" bIns="0" rtlCol="0" anchor="t"/>
          <a:lstStyle/>
          <a:p>
            <a:pPr indent="0" marL="0">
              <a:buNone/>
            </a:pPr>
            <a:r>
              <a:rPr lang="en-US" sz="1200" dirty="0">
                <a:solidFill>
                  <a:srgbClr val="22282B"/>
                </a:solidFill>
                <a:latin typeface="Calibri" pitchFamily="34" charset="0"/>
                <a:ea typeface="Calibri" pitchFamily="34" charset="-122"/>
                <a:cs typeface="Calibri" pitchFamily="34" charset="-120"/>
              </a:rPr>
              <a:t>Availability sampling, review velocity, site imagery, press</a:t>
            </a:r>
            <a:endParaRPr lang="en-US" sz="1200" dirty="0"/>
          </a:p>
        </p:txBody>
      </p:sp>
      <p:sp>
        <p:nvSpPr>
          <p:cNvPr id="16" name="Text 14"/>
          <p:cNvSpPr/>
          <p:nvPr/>
        </p:nvSpPr>
        <p:spPr>
          <a:xfrm>
            <a:off x="7863840" y="3310128"/>
            <a:ext cx="2926080" cy="548640"/>
          </a:xfrm>
          <a:prstGeom prst="rect">
            <a:avLst/>
          </a:prstGeom>
          <a:noFill/>
          <a:ln/>
        </p:spPr>
        <p:txBody>
          <a:bodyPr wrap="square" lIns="0" tIns="0" rIns="0" bIns="0" rtlCol="0" anchor="t"/>
          <a:lstStyle/>
          <a:p>
            <a:pPr indent="0" marL="0">
              <a:buNone/>
            </a:pPr>
            <a:r>
              <a:rPr lang="en-US" sz="1200" i="1" dirty="0">
                <a:solidFill>
                  <a:srgbClr val="6B7671"/>
                </a:solidFill>
                <a:latin typeface="Calibri" pitchFamily="34" charset="0"/>
                <a:ea typeface="Calibri" pitchFamily="34" charset="-122"/>
                <a:cs typeface="Calibri" pitchFamily="34" charset="-120"/>
              </a:rPr>
              <a:t>Reliable, not certain</a:t>
            </a:r>
            <a:endParaRPr lang="en-US" sz="1200" dirty="0"/>
          </a:p>
        </p:txBody>
      </p:sp>
      <p:sp>
        <p:nvSpPr>
          <p:cNvPr id="17" name="Shape 15"/>
          <p:cNvSpPr/>
          <p:nvPr/>
        </p:nvSpPr>
        <p:spPr>
          <a:xfrm>
            <a:off x="548640" y="4078224"/>
            <a:ext cx="10424160" cy="786384"/>
          </a:xfrm>
          <a:prstGeom prst="roundRect">
            <a:avLst>
              <a:gd name="adj" fmla="val 6977"/>
            </a:avLst>
          </a:prstGeom>
          <a:solidFill>
            <a:srgbClr val="F7F5F0"/>
          </a:solidFill>
          <a:ln w="9525">
            <a:solidFill>
              <a:srgbClr val="C3D6C8"/>
            </a:solidFill>
            <a:prstDash val="solid"/>
          </a:ln>
        </p:spPr>
      </p:sp>
      <p:sp>
        <p:nvSpPr>
          <p:cNvPr id="18" name="Shape 16"/>
          <p:cNvSpPr/>
          <p:nvPr/>
        </p:nvSpPr>
        <p:spPr>
          <a:xfrm>
            <a:off x="749808" y="4251960"/>
            <a:ext cx="438912" cy="438912"/>
          </a:xfrm>
          <a:prstGeom prst="ellipse">
            <a:avLst/>
          </a:prstGeom>
          <a:solidFill>
            <a:srgbClr val="C9A227"/>
          </a:solidFill>
          <a:ln w="12700">
            <a:solidFill>
              <a:srgbClr val="C9A227"/>
            </a:solidFill>
            <a:prstDash val="solid"/>
          </a:ln>
        </p:spPr>
      </p:sp>
      <p:sp>
        <p:nvSpPr>
          <p:cNvPr id="19" name="Text 17"/>
          <p:cNvSpPr/>
          <p:nvPr/>
        </p:nvSpPr>
        <p:spPr>
          <a:xfrm>
            <a:off x="749808" y="4251960"/>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T3</a:t>
            </a:r>
            <a:endParaRPr lang="en-US" sz="1200" dirty="0"/>
          </a:p>
        </p:txBody>
      </p:sp>
      <p:sp>
        <p:nvSpPr>
          <p:cNvPr id="20" name="Text 18"/>
          <p:cNvSpPr/>
          <p:nvPr/>
        </p:nvSpPr>
        <p:spPr>
          <a:xfrm>
            <a:off x="1353312" y="4206240"/>
            <a:ext cx="1371600" cy="274320"/>
          </a:xfrm>
          <a:prstGeom prst="rect">
            <a:avLst/>
          </a:prstGeom>
          <a:noFill/>
          <a:ln/>
        </p:spPr>
        <p:txBody>
          <a:bodyPr wrap="square" lIns="0" tIns="0" rIns="0" bIns="0" rtlCol="0" anchor="ctr"/>
          <a:lstStyle/>
          <a:p>
            <a:pPr indent="0" marL="0">
              <a:buNone/>
            </a:pPr>
            <a:r>
              <a:rPr lang="en-US" sz="1400" b="1" dirty="0">
                <a:solidFill>
                  <a:srgbClr val="1E3D2F"/>
                </a:solidFill>
                <a:latin typeface="Calibri" pitchFamily="34" charset="0"/>
                <a:ea typeface="Calibri" pitchFamily="34" charset="-122"/>
                <a:cs typeface="Calibri" pitchFamily="34" charset="-120"/>
              </a:rPr>
              <a:t>Modelled</a:t>
            </a:r>
            <a:endParaRPr lang="en-US" sz="1400" dirty="0"/>
          </a:p>
        </p:txBody>
      </p:sp>
      <p:sp>
        <p:nvSpPr>
          <p:cNvPr id="21" name="Text 19"/>
          <p:cNvSpPr/>
          <p:nvPr/>
        </p:nvSpPr>
        <p:spPr>
          <a:xfrm>
            <a:off x="2743200" y="4206240"/>
            <a:ext cx="5029200" cy="548640"/>
          </a:xfrm>
          <a:prstGeom prst="rect">
            <a:avLst/>
          </a:prstGeom>
          <a:noFill/>
          <a:ln/>
        </p:spPr>
        <p:txBody>
          <a:bodyPr wrap="square" lIns="0" tIns="0" rIns="0" bIns="0" rtlCol="0" anchor="t"/>
          <a:lstStyle/>
          <a:p>
            <a:pPr indent="0" marL="0">
              <a:buNone/>
            </a:pPr>
            <a:r>
              <a:rPr lang="en-US" sz="1200" dirty="0">
                <a:solidFill>
                  <a:srgbClr val="22282B"/>
                </a:solidFill>
                <a:latin typeface="Calibri" pitchFamily="34" charset="0"/>
                <a:ea typeface="Calibri" pitchFamily="34" charset="-122"/>
                <a:cs typeface="Calibri" pitchFamily="34" charset="-120"/>
              </a:rPr>
              <a:t>Built from T1/T2 via a stated formula</a:t>
            </a:r>
            <a:endParaRPr lang="en-US" sz="1200" dirty="0"/>
          </a:p>
        </p:txBody>
      </p:sp>
      <p:sp>
        <p:nvSpPr>
          <p:cNvPr id="22" name="Text 20"/>
          <p:cNvSpPr/>
          <p:nvPr/>
        </p:nvSpPr>
        <p:spPr>
          <a:xfrm>
            <a:off x="7863840" y="4206240"/>
            <a:ext cx="2926080" cy="548640"/>
          </a:xfrm>
          <a:prstGeom prst="rect">
            <a:avLst/>
          </a:prstGeom>
          <a:noFill/>
          <a:ln/>
        </p:spPr>
        <p:txBody>
          <a:bodyPr wrap="square" lIns="0" tIns="0" rIns="0" bIns="0" rtlCol="0" anchor="t"/>
          <a:lstStyle/>
          <a:p>
            <a:pPr indent="0" marL="0">
              <a:buNone/>
            </a:pPr>
            <a:r>
              <a:rPr lang="en-US" sz="1200" i="1" dirty="0">
                <a:solidFill>
                  <a:srgbClr val="6B7671"/>
                </a:solidFill>
                <a:latin typeface="Calibri" pitchFamily="34" charset="0"/>
                <a:ea typeface="Calibri" pitchFamily="34" charset="-122"/>
                <a:cs typeface="Calibri" pitchFamily="34" charset="-120"/>
              </a:rPr>
              <a:t>Directional; error band applies</a:t>
            </a:r>
            <a:endParaRPr lang="en-US" sz="1200" dirty="0"/>
          </a:p>
        </p:txBody>
      </p:sp>
      <p:sp>
        <p:nvSpPr>
          <p:cNvPr id="23" name="Shape 21"/>
          <p:cNvSpPr/>
          <p:nvPr/>
        </p:nvSpPr>
        <p:spPr>
          <a:xfrm>
            <a:off x="548640" y="4974336"/>
            <a:ext cx="10424160" cy="786384"/>
          </a:xfrm>
          <a:prstGeom prst="roundRect">
            <a:avLst>
              <a:gd name="adj" fmla="val 6977"/>
            </a:avLst>
          </a:prstGeom>
          <a:solidFill>
            <a:srgbClr val="F7F5F0"/>
          </a:solidFill>
          <a:ln w="9525">
            <a:solidFill>
              <a:srgbClr val="C3D6C8"/>
            </a:solidFill>
            <a:prstDash val="solid"/>
          </a:ln>
        </p:spPr>
      </p:sp>
      <p:sp>
        <p:nvSpPr>
          <p:cNvPr id="24" name="Shape 22"/>
          <p:cNvSpPr/>
          <p:nvPr/>
        </p:nvSpPr>
        <p:spPr>
          <a:xfrm>
            <a:off x="749808" y="5148072"/>
            <a:ext cx="438912" cy="438912"/>
          </a:xfrm>
          <a:prstGeom prst="ellipse">
            <a:avLst/>
          </a:prstGeom>
          <a:solidFill>
            <a:srgbClr val="A63A2E"/>
          </a:solidFill>
          <a:ln w="12700">
            <a:solidFill>
              <a:srgbClr val="A63A2E"/>
            </a:solidFill>
            <a:prstDash val="solid"/>
          </a:ln>
        </p:spPr>
      </p:sp>
      <p:sp>
        <p:nvSpPr>
          <p:cNvPr id="25" name="Text 23"/>
          <p:cNvSpPr/>
          <p:nvPr/>
        </p:nvSpPr>
        <p:spPr>
          <a:xfrm>
            <a:off x="749808" y="5148072"/>
            <a:ext cx="438912"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T4</a:t>
            </a:r>
            <a:endParaRPr lang="en-US" sz="1200" dirty="0"/>
          </a:p>
        </p:txBody>
      </p:sp>
      <p:sp>
        <p:nvSpPr>
          <p:cNvPr id="26" name="Text 24"/>
          <p:cNvSpPr/>
          <p:nvPr/>
        </p:nvSpPr>
        <p:spPr>
          <a:xfrm>
            <a:off x="1353312" y="5102352"/>
            <a:ext cx="1371600" cy="274320"/>
          </a:xfrm>
          <a:prstGeom prst="rect">
            <a:avLst/>
          </a:prstGeom>
          <a:noFill/>
          <a:ln/>
        </p:spPr>
        <p:txBody>
          <a:bodyPr wrap="square" lIns="0" tIns="0" rIns="0" bIns="0" rtlCol="0" anchor="ctr"/>
          <a:lstStyle/>
          <a:p>
            <a:pPr indent="0" marL="0">
              <a:buNone/>
            </a:pPr>
            <a:r>
              <a:rPr lang="en-US" sz="1400" b="1" dirty="0">
                <a:solidFill>
                  <a:srgbClr val="1E3D2F"/>
                </a:solidFill>
                <a:latin typeface="Calibri" pitchFamily="34" charset="0"/>
                <a:ea typeface="Calibri" pitchFamily="34" charset="-122"/>
                <a:cs typeface="Calibri" pitchFamily="34" charset="-120"/>
              </a:rPr>
              <a:t>Judgement</a:t>
            </a:r>
            <a:endParaRPr lang="en-US" sz="1400" dirty="0"/>
          </a:p>
        </p:txBody>
      </p:sp>
      <p:sp>
        <p:nvSpPr>
          <p:cNvPr id="27" name="Text 25"/>
          <p:cNvSpPr/>
          <p:nvPr/>
        </p:nvSpPr>
        <p:spPr>
          <a:xfrm>
            <a:off x="2743200" y="5102352"/>
            <a:ext cx="5029200" cy="548640"/>
          </a:xfrm>
          <a:prstGeom prst="rect">
            <a:avLst/>
          </a:prstGeom>
          <a:noFill/>
          <a:ln/>
        </p:spPr>
        <p:txBody>
          <a:bodyPr wrap="square" lIns="0" tIns="0" rIns="0" bIns="0" rtlCol="0" anchor="t"/>
          <a:lstStyle/>
          <a:p>
            <a:pPr indent="0" marL="0">
              <a:buNone/>
            </a:pPr>
            <a:r>
              <a:rPr lang="en-US" sz="1200" dirty="0">
                <a:solidFill>
                  <a:srgbClr val="22282B"/>
                </a:solidFill>
                <a:latin typeface="Calibri" pitchFamily="34" charset="0"/>
                <a:ea typeface="Calibri" pitchFamily="34" charset="-122"/>
                <a:cs typeface="Calibri" pitchFamily="34" charset="-120"/>
              </a:rPr>
              <a:t>Analyst estimate where nothing else exists</a:t>
            </a:r>
            <a:endParaRPr lang="en-US" sz="1200" dirty="0"/>
          </a:p>
        </p:txBody>
      </p:sp>
      <p:sp>
        <p:nvSpPr>
          <p:cNvPr id="28" name="Text 26"/>
          <p:cNvSpPr/>
          <p:nvPr/>
        </p:nvSpPr>
        <p:spPr>
          <a:xfrm>
            <a:off x="7863840" y="5102352"/>
            <a:ext cx="2926080" cy="548640"/>
          </a:xfrm>
          <a:prstGeom prst="rect">
            <a:avLst/>
          </a:prstGeom>
          <a:noFill/>
          <a:ln/>
        </p:spPr>
        <p:txBody>
          <a:bodyPr wrap="square" lIns="0" tIns="0" rIns="0" bIns="0" rtlCol="0" anchor="t"/>
          <a:lstStyle/>
          <a:p>
            <a:pPr indent="0" marL="0">
              <a:buNone/>
            </a:pPr>
            <a:r>
              <a:rPr lang="en-US" sz="1200" i="1" dirty="0">
                <a:solidFill>
                  <a:srgbClr val="6B7671"/>
                </a:solidFill>
                <a:latin typeface="Calibri" pitchFamily="34" charset="0"/>
                <a:ea typeface="Calibri" pitchFamily="34" charset="-122"/>
                <a:cs typeface="Calibri" pitchFamily="34" charset="-120"/>
              </a:rPr>
              <a:t>Lowest confidence; flagged</a:t>
            </a:r>
            <a:endParaRPr lang="en-US" sz="1200" dirty="0"/>
          </a:p>
        </p:txBody>
      </p:sp>
      <p:sp>
        <p:nvSpPr>
          <p:cNvPr id="29" name="Text 27"/>
          <p:cNvSpPr/>
          <p:nvPr/>
        </p:nvSpPr>
        <p:spPr>
          <a:xfrm>
            <a:off x="548640" y="6382512"/>
            <a:ext cx="11064240" cy="310896"/>
          </a:xfrm>
          <a:prstGeom prst="rect">
            <a:avLst/>
          </a:prstGeom>
          <a:noFill/>
          <a:ln/>
        </p:spPr>
        <p:txBody>
          <a:bodyPr wrap="square" lIns="0" tIns="0" rIns="0" bIns="0" rtlCol="0" anchor="ctr"/>
          <a:lstStyle/>
          <a:p>
            <a:pPr indent="0" marL="0">
              <a:buNone/>
            </a:pPr>
            <a:r>
              <a:rPr lang="en-US" sz="900" i="1" dirty="0">
                <a:solidFill>
                  <a:srgbClr val="6B7671"/>
                </a:solidFill>
                <a:latin typeface="Calibri" pitchFamily="34" charset="0"/>
                <a:ea typeface="Calibri" pitchFamily="34" charset="-122"/>
                <a:cs typeface="Calibri" pitchFamily="34" charset="-120"/>
              </a:rPr>
              <a:t>Blank cells in the workbook mean 'not verified', never zero — deliberately left empty rather than filled with a recalled figure presented as data.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1064240" cy="237744"/>
          </a:xfrm>
          <a:prstGeom prst="rect">
            <a:avLst/>
          </a:prstGeom>
          <a:noFill/>
          <a:ln/>
        </p:spPr>
        <p:txBody>
          <a:bodyPr wrap="square" lIns="0" tIns="0" rIns="0" bIns="0" rtlCol="0" anchor="ctr"/>
          <a:lstStyle/>
          <a:p>
            <a:pPr indent="0" marL="0">
              <a:buNone/>
            </a:pPr>
            <a:r>
              <a:rPr lang="en-US" sz="1100" b="1" spc="200" kern="0" dirty="0">
                <a:solidFill>
                  <a:srgbClr val="7FA88B"/>
                </a:solidFill>
                <a:latin typeface="Calibri" pitchFamily="34" charset="0"/>
                <a:ea typeface="Calibri" pitchFamily="34" charset="-122"/>
                <a:cs typeface="Calibri" pitchFamily="34" charset="-120"/>
              </a:rPr>
              <a:t>MARKET SIZING</a:t>
            </a:r>
            <a:endParaRPr lang="en-US" sz="11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200" b="1" dirty="0">
                <a:solidFill>
                  <a:srgbClr val="1E3D2F"/>
                </a:solidFill>
                <a:latin typeface="Cambria" pitchFamily="34" charset="0"/>
                <a:ea typeface="Cambria" pitchFamily="34" charset="-122"/>
                <a:cs typeface="Cambria" pitchFamily="34" charset="-120"/>
              </a:rPr>
              <a:t>The published India numbers disagree by an order of magnitude</a:t>
            </a:r>
            <a:endParaRPr lang="en-US" sz="3200" dirty="0"/>
          </a:p>
        </p:txBody>
      </p:sp>
      <p:sp>
        <p:nvSpPr>
          <p:cNvPr id="4" name="Text 2"/>
          <p:cNvSpPr/>
          <p:nvPr/>
        </p:nvSpPr>
        <p:spPr>
          <a:xfrm>
            <a:off x="548640" y="1481328"/>
            <a:ext cx="10424160" cy="457200"/>
          </a:xfrm>
          <a:prstGeom prst="rect">
            <a:avLst/>
          </a:prstGeom>
          <a:noFill/>
          <a:ln/>
        </p:spPr>
        <p:txBody>
          <a:bodyPr wrap="square" lIns="0" tIns="0" rIns="0" bIns="0" rtlCol="0" anchor="ctr"/>
          <a:lstStyle/>
          <a:p>
            <a:pPr indent="0" marL="0">
              <a:buNone/>
            </a:pPr>
            <a:r>
              <a:rPr lang="en-US" sz="1500" dirty="0">
                <a:solidFill>
                  <a:srgbClr val="22282B"/>
                </a:solidFill>
                <a:latin typeface="Calibri" pitchFamily="34" charset="0"/>
                <a:ea typeface="Calibri" pitchFamily="34" charset="-122"/>
                <a:cs typeface="Calibri" pitchFamily="34" charset="-120"/>
              </a:rPr>
              <a:t>Three credible-looking sources, three irreconcilable answers for the same segment. Resolving this is a prerequisite for any credible sizing — not a footnote.</a:t>
            </a:r>
            <a:endParaRPr lang="en-US" sz="1500" dirty="0"/>
          </a:p>
        </p:txBody>
      </p:sp>
      <p:sp>
        <p:nvSpPr>
          <p:cNvPr id="5" name="Shape 3"/>
          <p:cNvSpPr/>
          <p:nvPr/>
        </p:nvSpPr>
        <p:spPr>
          <a:xfrm>
            <a:off x="548640" y="2148840"/>
            <a:ext cx="3291840" cy="1737360"/>
          </a:xfrm>
          <a:prstGeom prst="roundRect">
            <a:avLst>
              <a:gd name="adj" fmla="val 3158"/>
            </a:avLst>
          </a:prstGeom>
          <a:solidFill>
            <a:srgbClr val="F7F5F0"/>
          </a:solidFill>
          <a:ln w="9525">
            <a:solidFill>
              <a:srgbClr val="C3D6C8"/>
            </a:solidFill>
            <a:prstDash val="solid"/>
          </a:ln>
        </p:spPr>
      </p:sp>
      <p:sp>
        <p:nvSpPr>
          <p:cNvPr id="6" name="Text 4"/>
          <p:cNvSpPr/>
          <p:nvPr/>
        </p:nvSpPr>
        <p:spPr>
          <a:xfrm>
            <a:off x="713232" y="2295144"/>
            <a:ext cx="2962656" cy="658368"/>
          </a:xfrm>
          <a:prstGeom prst="rect">
            <a:avLst/>
          </a:prstGeom>
          <a:noFill/>
          <a:ln/>
        </p:spPr>
        <p:txBody>
          <a:bodyPr wrap="square" lIns="0" tIns="0" rIns="0" bIns="0" rtlCol="0" anchor="ctr"/>
          <a:lstStyle/>
          <a:p>
            <a:pPr indent="0" marL="0">
              <a:buNone/>
            </a:pPr>
            <a:r>
              <a:rPr lang="en-US" sz="3400" b="1" dirty="0">
                <a:solidFill>
                  <a:srgbClr val="1E3D2F"/>
                </a:solidFill>
                <a:latin typeface="Cambria" pitchFamily="34" charset="0"/>
                <a:ea typeface="Cambria" pitchFamily="34" charset="-122"/>
                <a:cs typeface="Cambria" pitchFamily="34" charset="-120"/>
              </a:rPr>
              <a:t>$8.7bn</a:t>
            </a:r>
            <a:endParaRPr lang="en-US" sz="3400" dirty="0"/>
          </a:p>
        </p:txBody>
      </p:sp>
      <p:sp>
        <p:nvSpPr>
          <p:cNvPr id="7" name="Text 5"/>
          <p:cNvSpPr/>
          <p:nvPr/>
        </p:nvSpPr>
        <p:spPr>
          <a:xfrm>
            <a:off x="713232" y="2971800"/>
            <a:ext cx="2962656" cy="274320"/>
          </a:xfrm>
          <a:prstGeom prst="rect">
            <a:avLst/>
          </a:prstGeom>
          <a:noFill/>
          <a:ln/>
        </p:spPr>
        <p:txBody>
          <a:bodyPr wrap="square" lIns="0" tIns="0" rIns="0" bIns="0" rtlCol="0" anchor="ctr"/>
          <a:lstStyle/>
          <a:p>
            <a:pPr indent="0" marL="0">
              <a:buNone/>
            </a:pPr>
            <a:r>
              <a:rPr lang="en-US" sz="1200" b="1" dirty="0">
                <a:solidFill>
                  <a:srgbClr val="22282B"/>
                </a:solidFill>
                <a:latin typeface="Calibri" pitchFamily="34" charset="0"/>
                <a:ea typeface="Calibri" pitchFamily="34" charset="-122"/>
                <a:cs typeface="Calibri" pitchFamily="34" charset="-120"/>
              </a:rPr>
              <a:t>Medical + wellness travel, 2025</a:t>
            </a:r>
            <a:endParaRPr lang="en-US" sz="1200" dirty="0"/>
          </a:p>
        </p:txBody>
      </p:sp>
      <p:sp>
        <p:nvSpPr>
          <p:cNvPr id="8" name="Text 6"/>
          <p:cNvSpPr/>
          <p:nvPr/>
        </p:nvSpPr>
        <p:spPr>
          <a:xfrm>
            <a:off x="713232" y="3246120"/>
            <a:ext cx="2962656" cy="530352"/>
          </a:xfrm>
          <a:prstGeom prst="rect">
            <a:avLst/>
          </a:prstGeom>
          <a:noFill/>
          <a:ln/>
        </p:spPr>
        <p:txBody>
          <a:bodyPr wrap="square" lIns="0" tIns="0" rIns="0" bIns="0" rtlCol="0" anchor="t"/>
          <a:lstStyle/>
          <a:p>
            <a:pPr indent="0" marL="0">
              <a:buNone/>
            </a:pPr>
            <a:r>
              <a:rPr lang="en-US" sz="1000" dirty="0">
                <a:solidFill>
                  <a:srgbClr val="6B7671"/>
                </a:solidFill>
                <a:latin typeface="Calibri" pitchFamily="34" charset="0"/>
                <a:ea typeface="Calibri" pitchFamily="34" charset="-122"/>
                <a:cs typeface="Calibri" pitchFamily="34" charset="-120"/>
              </a:rPr>
              <a:t>Government / KPMG framing. Narrow: travel only.</a:t>
            </a:r>
            <a:endParaRPr lang="en-US" sz="1000" dirty="0"/>
          </a:p>
        </p:txBody>
      </p:sp>
      <p:sp>
        <p:nvSpPr>
          <p:cNvPr id="9" name="Shape 7"/>
          <p:cNvSpPr/>
          <p:nvPr/>
        </p:nvSpPr>
        <p:spPr>
          <a:xfrm>
            <a:off x="4114800" y="2148840"/>
            <a:ext cx="3291840" cy="1737360"/>
          </a:xfrm>
          <a:prstGeom prst="roundRect">
            <a:avLst>
              <a:gd name="adj" fmla="val 3158"/>
            </a:avLst>
          </a:prstGeom>
          <a:solidFill>
            <a:srgbClr val="F7F5F0"/>
          </a:solidFill>
          <a:ln w="9525">
            <a:solidFill>
              <a:srgbClr val="C3D6C8"/>
            </a:solidFill>
            <a:prstDash val="solid"/>
          </a:ln>
        </p:spPr>
      </p:sp>
      <p:sp>
        <p:nvSpPr>
          <p:cNvPr id="10" name="Text 8"/>
          <p:cNvSpPr/>
          <p:nvPr/>
        </p:nvSpPr>
        <p:spPr>
          <a:xfrm>
            <a:off x="4279392" y="2295144"/>
            <a:ext cx="2962656" cy="658368"/>
          </a:xfrm>
          <a:prstGeom prst="rect">
            <a:avLst/>
          </a:prstGeom>
          <a:noFill/>
          <a:ln/>
        </p:spPr>
        <p:txBody>
          <a:bodyPr wrap="square" lIns="0" tIns="0" rIns="0" bIns="0" rtlCol="0" anchor="ctr"/>
          <a:lstStyle/>
          <a:p>
            <a:pPr indent="0" marL="0">
              <a:buNone/>
            </a:pPr>
            <a:r>
              <a:rPr lang="en-US" sz="3400" b="1" dirty="0">
                <a:solidFill>
                  <a:srgbClr val="C9A227"/>
                </a:solidFill>
                <a:latin typeface="Cambria" pitchFamily="34" charset="0"/>
                <a:ea typeface="Cambria" pitchFamily="34" charset="-122"/>
                <a:cs typeface="Cambria" pitchFamily="34" charset="-120"/>
              </a:rPr>
              <a:t>$28.9bn</a:t>
            </a:r>
            <a:endParaRPr lang="en-US" sz="3400" dirty="0"/>
          </a:p>
        </p:txBody>
      </p:sp>
      <p:sp>
        <p:nvSpPr>
          <p:cNvPr id="11" name="Text 9"/>
          <p:cNvSpPr/>
          <p:nvPr/>
        </p:nvSpPr>
        <p:spPr>
          <a:xfrm>
            <a:off x="4279392" y="2971800"/>
            <a:ext cx="2962656" cy="274320"/>
          </a:xfrm>
          <a:prstGeom prst="rect">
            <a:avLst/>
          </a:prstGeom>
          <a:noFill/>
          <a:ln/>
        </p:spPr>
        <p:txBody>
          <a:bodyPr wrap="square" lIns="0" tIns="0" rIns="0" bIns="0" rtlCol="0" anchor="ctr"/>
          <a:lstStyle/>
          <a:p>
            <a:pPr indent="0" marL="0">
              <a:buNone/>
            </a:pPr>
            <a:r>
              <a:rPr lang="en-US" sz="1200" b="1" dirty="0">
                <a:solidFill>
                  <a:srgbClr val="22282B"/>
                </a:solidFill>
                <a:latin typeface="Calibri" pitchFamily="34" charset="0"/>
                <a:ea typeface="Calibri" pitchFamily="34" charset="-122"/>
                <a:cs typeface="Calibri" pitchFamily="34" charset="-120"/>
              </a:rPr>
              <a:t>Wellness tourism, 2025</a:t>
            </a:r>
            <a:endParaRPr lang="en-US" sz="1200" dirty="0"/>
          </a:p>
        </p:txBody>
      </p:sp>
      <p:sp>
        <p:nvSpPr>
          <p:cNvPr id="12" name="Text 10"/>
          <p:cNvSpPr/>
          <p:nvPr/>
        </p:nvSpPr>
        <p:spPr>
          <a:xfrm>
            <a:off x="4279392" y="3246120"/>
            <a:ext cx="2962656" cy="530352"/>
          </a:xfrm>
          <a:prstGeom prst="rect">
            <a:avLst/>
          </a:prstGeom>
          <a:noFill/>
          <a:ln/>
        </p:spPr>
        <p:txBody>
          <a:bodyPr wrap="square" lIns="0" tIns="0" rIns="0" bIns="0" rtlCol="0" anchor="t"/>
          <a:lstStyle/>
          <a:p>
            <a:pPr indent="0" marL="0">
              <a:buNone/>
            </a:pPr>
            <a:r>
              <a:rPr lang="en-US" sz="1000" dirty="0">
                <a:solidFill>
                  <a:srgbClr val="6B7671"/>
                </a:solidFill>
                <a:latin typeface="Calibri" pitchFamily="34" charset="0"/>
                <a:ea typeface="Calibri" pitchFamily="34" charset="-122"/>
                <a:cs typeface="Calibri" pitchFamily="34" charset="-120"/>
              </a:rPr>
              <a:t>Market-research framing. Wider scope, domestic included.</a:t>
            </a:r>
            <a:endParaRPr lang="en-US" sz="1000" dirty="0"/>
          </a:p>
        </p:txBody>
      </p:sp>
      <p:sp>
        <p:nvSpPr>
          <p:cNvPr id="13" name="Shape 11"/>
          <p:cNvSpPr/>
          <p:nvPr/>
        </p:nvSpPr>
        <p:spPr>
          <a:xfrm>
            <a:off x="7680960" y="2148840"/>
            <a:ext cx="3291840" cy="1737360"/>
          </a:xfrm>
          <a:prstGeom prst="roundRect">
            <a:avLst>
              <a:gd name="adj" fmla="val 3158"/>
            </a:avLst>
          </a:prstGeom>
          <a:solidFill>
            <a:srgbClr val="F7F5F0"/>
          </a:solidFill>
          <a:ln w="9525">
            <a:solidFill>
              <a:srgbClr val="C3D6C8"/>
            </a:solidFill>
            <a:prstDash val="solid"/>
          </a:ln>
        </p:spPr>
      </p:sp>
      <p:sp>
        <p:nvSpPr>
          <p:cNvPr id="14" name="Text 12"/>
          <p:cNvSpPr/>
          <p:nvPr/>
        </p:nvSpPr>
        <p:spPr>
          <a:xfrm>
            <a:off x="7845552" y="2295144"/>
            <a:ext cx="2962656" cy="658368"/>
          </a:xfrm>
          <a:prstGeom prst="rect">
            <a:avLst/>
          </a:prstGeom>
          <a:noFill/>
          <a:ln/>
        </p:spPr>
        <p:txBody>
          <a:bodyPr wrap="square" lIns="0" tIns="0" rIns="0" bIns="0" rtlCol="0" anchor="ctr"/>
          <a:lstStyle/>
          <a:p>
            <a:pPr indent="0" marL="0">
              <a:buNone/>
            </a:pPr>
            <a:r>
              <a:rPr lang="en-US" sz="3400" b="1" dirty="0">
                <a:solidFill>
                  <a:srgbClr val="A63A2E"/>
                </a:solidFill>
                <a:latin typeface="Cambria" pitchFamily="34" charset="0"/>
                <a:ea typeface="Cambria" pitchFamily="34" charset="-122"/>
                <a:cs typeface="Cambria" pitchFamily="34" charset="-120"/>
              </a:rPr>
              <a:t>$130bn</a:t>
            </a:r>
            <a:endParaRPr lang="en-US" sz="3400" dirty="0"/>
          </a:p>
        </p:txBody>
      </p:sp>
      <p:sp>
        <p:nvSpPr>
          <p:cNvPr id="15" name="Text 13"/>
          <p:cNvSpPr/>
          <p:nvPr/>
        </p:nvSpPr>
        <p:spPr>
          <a:xfrm>
            <a:off x="7845552" y="2971800"/>
            <a:ext cx="2962656" cy="274320"/>
          </a:xfrm>
          <a:prstGeom prst="rect">
            <a:avLst/>
          </a:prstGeom>
          <a:noFill/>
          <a:ln/>
        </p:spPr>
        <p:txBody>
          <a:bodyPr wrap="square" lIns="0" tIns="0" rIns="0" bIns="0" rtlCol="0" anchor="ctr"/>
          <a:lstStyle/>
          <a:p>
            <a:pPr indent="0" marL="0">
              <a:buNone/>
            </a:pPr>
            <a:r>
              <a:rPr lang="en-US" sz="1200" b="1" dirty="0">
                <a:solidFill>
                  <a:srgbClr val="22282B"/>
                </a:solidFill>
                <a:latin typeface="Calibri" pitchFamily="34" charset="0"/>
                <a:ea typeface="Calibri" pitchFamily="34" charset="-122"/>
                <a:cs typeface="Calibri" pitchFamily="34" charset="-120"/>
              </a:rPr>
              <a:t>Wellness tourism by 2035</a:t>
            </a:r>
            <a:endParaRPr lang="en-US" sz="1200" dirty="0"/>
          </a:p>
        </p:txBody>
      </p:sp>
      <p:sp>
        <p:nvSpPr>
          <p:cNvPr id="16" name="Text 14"/>
          <p:cNvSpPr/>
          <p:nvPr/>
        </p:nvSpPr>
        <p:spPr>
          <a:xfrm>
            <a:off x="7845552" y="3246120"/>
            <a:ext cx="2962656" cy="530352"/>
          </a:xfrm>
          <a:prstGeom prst="rect">
            <a:avLst/>
          </a:prstGeom>
          <a:noFill/>
          <a:ln/>
        </p:spPr>
        <p:txBody>
          <a:bodyPr wrap="square" lIns="0" tIns="0" rIns="0" bIns="0" rtlCol="0" anchor="t"/>
          <a:lstStyle/>
          <a:p>
            <a:pPr indent="0" marL="0">
              <a:buNone/>
            </a:pPr>
            <a:r>
              <a:rPr lang="en-US" sz="1000" dirty="0">
                <a:solidFill>
                  <a:srgbClr val="6B7671"/>
                </a:solidFill>
                <a:latin typeface="Calibri" pitchFamily="34" charset="0"/>
                <a:ea typeface="Calibri" pitchFamily="34" charset="-122"/>
                <a:cs typeface="Calibri" pitchFamily="34" charset="-120"/>
              </a:rPr>
              <a:t>Long-horizon forecast on a third definition again.</a:t>
            </a:r>
            <a:endParaRPr lang="en-US" sz="1000" dirty="0"/>
          </a:p>
        </p:txBody>
      </p:sp>
      <p:sp>
        <p:nvSpPr>
          <p:cNvPr id="17" name="Shape 15"/>
          <p:cNvSpPr/>
          <p:nvPr/>
        </p:nvSpPr>
        <p:spPr>
          <a:xfrm>
            <a:off x="548640" y="4160520"/>
            <a:ext cx="10424160" cy="1600200"/>
          </a:xfrm>
          <a:prstGeom prst="roundRect">
            <a:avLst>
              <a:gd name="adj" fmla="val 3429"/>
            </a:avLst>
          </a:prstGeom>
          <a:solidFill>
            <a:srgbClr val="F7F5F0"/>
          </a:solidFill>
          <a:ln w="9525">
            <a:solidFill>
              <a:srgbClr val="C3D6C8"/>
            </a:solidFill>
            <a:prstDash val="solid"/>
          </a:ln>
        </p:spPr>
      </p:sp>
      <p:sp>
        <p:nvSpPr>
          <p:cNvPr id="18" name="Text 16"/>
          <p:cNvSpPr/>
          <p:nvPr/>
        </p:nvSpPr>
        <p:spPr>
          <a:xfrm>
            <a:off x="822960" y="4315968"/>
            <a:ext cx="9875520" cy="292608"/>
          </a:xfrm>
          <a:prstGeom prst="rect">
            <a:avLst/>
          </a:prstGeom>
          <a:noFill/>
          <a:ln/>
        </p:spPr>
        <p:txBody>
          <a:bodyPr wrap="square" lIns="0" tIns="0" rIns="0" bIns="0" rtlCol="0" anchor="ctr"/>
          <a:lstStyle/>
          <a:p>
            <a:pPr indent="0" marL="0">
              <a:buNone/>
            </a:pPr>
            <a:r>
              <a:rPr lang="en-US" sz="1400" b="1" dirty="0">
                <a:solidFill>
                  <a:srgbClr val="1E3D2F"/>
                </a:solidFill>
                <a:latin typeface="Calibri" pitchFamily="34" charset="0"/>
                <a:ea typeface="Calibri" pitchFamily="34" charset="-122"/>
                <a:cs typeface="Calibri" pitchFamily="34" charset="-120"/>
              </a:rPr>
              <a:t>Why they diverge — and what we do about it</a:t>
            </a:r>
            <a:endParaRPr lang="en-US" sz="1400" dirty="0"/>
          </a:p>
        </p:txBody>
      </p:sp>
      <p:sp>
        <p:nvSpPr>
          <p:cNvPr id="19" name="Text 17"/>
          <p:cNvSpPr/>
          <p:nvPr/>
        </p:nvSpPr>
        <p:spPr>
          <a:xfrm>
            <a:off x="822960" y="4663440"/>
            <a:ext cx="9875520" cy="100584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22282B"/>
                </a:solidFill>
                <a:latin typeface="Calibri" pitchFamily="34" charset="0"/>
                <a:ea typeface="Calibri" pitchFamily="34" charset="-122"/>
                <a:cs typeface="Calibri" pitchFamily="34" charset="-120"/>
              </a:rPr>
              <a:t>Definitional scope creep (travel vs tourism vs 'health &amp; wellness'), double counting across sectors, domestic-only vs inbound-inclusive, and differing base years.</a:t>
            </a:r>
            <a:endParaRPr lang="en-US" sz="1200" dirty="0"/>
          </a:p>
          <a:p>
            <a:pPr marL="342900" indent="-342900">
              <a:spcAft>
                <a:spcPts val="600"/>
              </a:spcAft>
              <a:buSzPct val="100000"/>
              <a:buChar char="•"/>
            </a:pPr>
            <a:r>
              <a:rPr lang="en-US" sz="1200" dirty="0">
                <a:solidFill>
                  <a:srgbClr val="22282B"/>
                </a:solidFill>
                <a:latin typeface="Calibri" pitchFamily="34" charset="0"/>
                <a:ea typeface="Calibri" pitchFamily="34" charset="-122"/>
                <a:cs typeface="Calibri" pitchFamily="34" charset="-120"/>
              </a:rPr>
              <a:t>Our method: top-down anchor (GWI) plus a bottom-up segment build, triangulated to a stated range with a published confidence band — not a single convenient number.</a:t>
            </a:r>
            <a:endParaRPr lang="en-US" sz="1200" dirty="0"/>
          </a:p>
        </p:txBody>
      </p:sp>
      <p:sp>
        <p:nvSpPr>
          <p:cNvPr id="20" name="Text 18"/>
          <p:cNvSpPr/>
          <p:nvPr/>
        </p:nvSpPr>
        <p:spPr>
          <a:xfrm>
            <a:off x="548640" y="6382512"/>
            <a:ext cx="11064240" cy="310896"/>
          </a:xfrm>
          <a:prstGeom prst="rect">
            <a:avLst/>
          </a:prstGeom>
          <a:noFill/>
          <a:ln/>
        </p:spPr>
        <p:txBody>
          <a:bodyPr wrap="square" lIns="0" tIns="0" rIns="0" bIns="0" rtlCol="0" anchor="ctr"/>
          <a:lstStyle/>
          <a:p>
            <a:pPr indent="0" marL="0">
              <a:buNone/>
            </a:pPr>
            <a:r>
              <a:rPr lang="en-US" sz="900" i="1" dirty="0">
                <a:solidFill>
                  <a:srgbClr val="6B7671"/>
                </a:solidFill>
                <a:latin typeface="Calibri" pitchFamily="34" charset="0"/>
                <a:ea typeface="Calibri" pitchFamily="34" charset="-122"/>
                <a:cs typeface="Calibri" pitchFamily="34" charset="-120"/>
              </a:rPr>
              <a:t>Sources: PIB / KPMG 'Heal in India'; Precedence Research; Mordor Intelligence. Global Wellness Institute data accessed via secondary carriers (GWI domain blocked in this environment).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1064240" cy="237744"/>
          </a:xfrm>
          <a:prstGeom prst="rect">
            <a:avLst/>
          </a:prstGeom>
          <a:noFill/>
          <a:ln/>
        </p:spPr>
        <p:txBody>
          <a:bodyPr wrap="square" lIns="0" tIns="0" rIns="0" bIns="0" rtlCol="0" anchor="ctr"/>
          <a:lstStyle/>
          <a:p>
            <a:pPr indent="0" marL="0">
              <a:buNone/>
            </a:pPr>
            <a:r>
              <a:rPr lang="en-US" sz="1100" b="1" spc="200" kern="0" dirty="0">
                <a:solidFill>
                  <a:srgbClr val="7FA88B"/>
                </a:solidFill>
                <a:latin typeface="Calibri" pitchFamily="34" charset="0"/>
                <a:ea typeface="Calibri" pitchFamily="34" charset="-122"/>
                <a:cs typeface="Calibri" pitchFamily="34" charset="-120"/>
              </a:rPr>
              <a:t>VALIDATION</a:t>
            </a:r>
            <a:endParaRPr lang="en-US" sz="11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200" b="1" dirty="0">
                <a:solidFill>
                  <a:srgbClr val="1E3D2F"/>
                </a:solidFill>
                <a:latin typeface="Cambria" pitchFamily="34" charset="0"/>
                <a:ea typeface="Cambria" pitchFamily="34" charset="-122"/>
                <a:cs typeface="Cambria" pitchFamily="34" charset="-120"/>
              </a:rPr>
              <a:t>Institutional capital has arrived — that is the signal</a:t>
            </a:r>
            <a:endParaRPr lang="en-US" sz="3200" dirty="0"/>
          </a:p>
        </p:txBody>
      </p:sp>
      <p:sp>
        <p:nvSpPr>
          <p:cNvPr id="4" name="Text 2"/>
          <p:cNvSpPr/>
          <p:nvPr/>
        </p:nvSpPr>
        <p:spPr>
          <a:xfrm>
            <a:off x="548640" y="1481328"/>
            <a:ext cx="10424160" cy="548640"/>
          </a:xfrm>
          <a:prstGeom prst="rect">
            <a:avLst/>
          </a:prstGeom>
          <a:noFill/>
          <a:ln/>
        </p:spPr>
        <p:txBody>
          <a:bodyPr wrap="square" lIns="0" tIns="0" rIns="0" bIns="0" rtlCol="0" anchor="ctr"/>
          <a:lstStyle/>
          <a:p>
            <a:pPr indent="0" marL="0">
              <a:buNone/>
            </a:pPr>
            <a:r>
              <a:rPr lang="en-US" sz="1500" dirty="0">
                <a:solidFill>
                  <a:srgbClr val="22282B"/>
                </a:solidFill>
                <a:latin typeface="Calibri" pitchFamily="34" charset="0"/>
                <a:ea typeface="Calibri" pitchFamily="34" charset="-122"/>
                <a:cs typeface="Calibri" pitchFamily="34" charset="-120"/>
              </a:rPr>
              <a:t>When hotel majors and real-estate developers start paying real money for wellness assets, the segment has crossed from lifestyle business to investable asset class — and an exit market exists.</a:t>
            </a:r>
            <a:endParaRPr lang="en-US" sz="1500" dirty="0"/>
          </a:p>
        </p:txBody>
      </p:sp>
      <p:sp>
        <p:nvSpPr>
          <p:cNvPr id="5" name="Shape 3"/>
          <p:cNvSpPr/>
          <p:nvPr/>
        </p:nvSpPr>
        <p:spPr>
          <a:xfrm>
            <a:off x="548640" y="2240280"/>
            <a:ext cx="10424160" cy="868680"/>
          </a:xfrm>
          <a:prstGeom prst="roundRect">
            <a:avLst>
              <a:gd name="adj" fmla="val 6316"/>
            </a:avLst>
          </a:prstGeom>
          <a:solidFill>
            <a:srgbClr val="F7F5F0"/>
          </a:solidFill>
          <a:ln w="9525">
            <a:solidFill>
              <a:srgbClr val="C3D6C8"/>
            </a:solidFill>
            <a:prstDash val="solid"/>
          </a:ln>
        </p:spPr>
      </p:sp>
      <p:sp>
        <p:nvSpPr>
          <p:cNvPr id="6" name="Shape 4"/>
          <p:cNvSpPr/>
          <p:nvPr/>
        </p:nvSpPr>
        <p:spPr>
          <a:xfrm>
            <a:off x="786384" y="2542032"/>
            <a:ext cx="256032" cy="256032"/>
          </a:xfrm>
          <a:prstGeom prst="ellipse">
            <a:avLst/>
          </a:prstGeom>
          <a:solidFill>
            <a:srgbClr val="C9A227"/>
          </a:solidFill>
          <a:ln w="12700">
            <a:solidFill>
              <a:srgbClr val="C9A227"/>
            </a:solidFill>
            <a:prstDash val="solid"/>
          </a:ln>
        </p:spPr>
      </p:sp>
      <p:sp>
        <p:nvSpPr>
          <p:cNvPr id="7" name="Text 5"/>
          <p:cNvSpPr/>
          <p:nvPr/>
        </p:nvSpPr>
        <p:spPr>
          <a:xfrm>
            <a:off x="1207008" y="2359152"/>
            <a:ext cx="3017520" cy="310896"/>
          </a:xfrm>
          <a:prstGeom prst="rect">
            <a:avLst/>
          </a:prstGeom>
          <a:noFill/>
          <a:ln/>
        </p:spPr>
        <p:txBody>
          <a:bodyPr wrap="square" lIns="0" tIns="0" rIns="0" bIns="0" rtlCol="0" anchor="ctr"/>
          <a:lstStyle/>
          <a:p>
            <a:pPr indent="0" marL="0">
              <a:buNone/>
            </a:pPr>
            <a:r>
              <a:rPr lang="en-US" sz="1400" b="1" dirty="0">
                <a:solidFill>
                  <a:srgbClr val="1E3D2F"/>
                </a:solidFill>
                <a:latin typeface="Calibri" pitchFamily="34" charset="0"/>
                <a:ea typeface="Calibri" pitchFamily="34" charset="-122"/>
                <a:cs typeface="Calibri" pitchFamily="34" charset="-120"/>
              </a:rPr>
              <a:t>IHCL → Atmantan</a:t>
            </a:r>
            <a:endParaRPr lang="en-US" sz="1400" dirty="0"/>
          </a:p>
        </p:txBody>
      </p:sp>
      <p:sp>
        <p:nvSpPr>
          <p:cNvPr id="8" name="Text 6"/>
          <p:cNvSpPr/>
          <p:nvPr/>
        </p:nvSpPr>
        <p:spPr>
          <a:xfrm>
            <a:off x="1207008" y="2679192"/>
            <a:ext cx="3017520" cy="274320"/>
          </a:xfrm>
          <a:prstGeom prst="rect">
            <a:avLst/>
          </a:prstGeom>
          <a:noFill/>
          <a:ln/>
        </p:spPr>
        <p:txBody>
          <a:bodyPr wrap="square" lIns="0" tIns="0" rIns="0" bIns="0" rtlCol="0" anchor="ctr"/>
          <a:lstStyle/>
          <a:p>
            <a:pPr indent="0" marL="0">
              <a:buNone/>
            </a:pPr>
            <a:r>
              <a:rPr lang="en-US" sz="1000" i="1" dirty="0">
                <a:solidFill>
                  <a:srgbClr val="6B7671"/>
                </a:solidFill>
                <a:latin typeface="Calibri" pitchFamily="34" charset="0"/>
                <a:ea typeface="Calibri" pitchFamily="34" charset="-122"/>
                <a:cs typeface="Calibri" pitchFamily="34" charset="-120"/>
              </a:rPr>
              <a:t>Nov 2025 / completed Jan 2026</a:t>
            </a:r>
            <a:endParaRPr lang="en-US" sz="1000" dirty="0"/>
          </a:p>
        </p:txBody>
      </p:sp>
      <p:sp>
        <p:nvSpPr>
          <p:cNvPr id="9" name="Text 7"/>
          <p:cNvSpPr/>
          <p:nvPr/>
        </p:nvSpPr>
        <p:spPr>
          <a:xfrm>
            <a:off x="4343400" y="2386584"/>
            <a:ext cx="6400800" cy="603504"/>
          </a:xfrm>
          <a:prstGeom prst="rect">
            <a:avLst/>
          </a:prstGeom>
          <a:noFill/>
          <a:ln/>
        </p:spPr>
        <p:txBody>
          <a:bodyPr wrap="square" lIns="0" tIns="0" rIns="0" bIns="0" rtlCol="0" anchor="t"/>
          <a:lstStyle/>
          <a:p>
            <a:pPr indent="0" marL="0">
              <a:buNone/>
            </a:pPr>
            <a:r>
              <a:rPr lang="en-US" sz="1200" dirty="0">
                <a:solidFill>
                  <a:srgbClr val="22282B"/>
                </a:solidFill>
                <a:latin typeface="Calibri" pitchFamily="34" charset="0"/>
                <a:ea typeface="Calibri" pitchFamily="34" charset="-122"/>
                <a:cs typeface="Calibri" pitchFamily="34" charset="-120"/>
              </a:rPr>
              <a:t>51% of Sparsh Infratech for ₹232.21 cr. Enterprise value ₹415 cr. IHCL's entry into integrated wellness.</a:t>
            </a:r>
            <a:endParaRPr lang="en-US" sz="1200" dirty="0"/>
          </a:p>
        </p:txBody>
      </p:sp>
      <p:sp>
        <p:nvSpPr>
          <p:cNvPr id="10" name="Shape 8"/>
          <p:cNvSpPr/>
          <p:nvPr/>
        </p:nvSpPr>
        <p:spPr>
          <a:xfrm>
            <a:off x="548640" y="3209544"/>
            <a:ext cx="10424160" cy="868680"/>
          </a:xfrm>
          <a:prstGeom prst="roundRect">
            <a:avLst>
              <a:gd name="adj" fmla="val 6316"/>
            </a:avLst>
          </a:prstGeom>
          <a:solidFill>
            <a:srgbClr val="F7F5F0"/>
          </a:solidFill>
          <a:ln w="9525">
            <a:solidFill>
              <a:srgbClr val="C3D6C8"/>
            </a:solidFill>
            <a:prstDash val="solid"/>
          </a:ln>
        </p:spPr>
      </p:sp>
      <p:sp>
        <p:nvSpPr>
          <p:cNvPr id="11" name="Shape 9"/>
          <p:cNvSpPr/>
          <p:nvPr/>
        </p:nvSpPr>
        <p:spPr>
          <a:xfrm>
            <a:off x="786384" y="3511296"/>
            <a:ext cx="256032" cy="256032"/>
          </a:xfrm>
          <a:prstGeom prst="ellipse">
            <a:avLst/>
          </a:prstGeom>
          <a:solidFill>
            <a:srgbClr val="7FA88B"/>
          </a:solidFill>
          <a:ln w="12700">
            <a:solidFill>
              <a:srgbClr val="7FA88B"/>
            </a:solidFill>
            <a:prstDash val="solid"/>
          </a:ln>
        </p:spPr>
      </p:sp>
      <p:sp>
        <p:nvSpPr>
          <p:cNvPr id="12" name="Text 10"/>
          <p:cNvSpPr/>
          <p:nvPr/>
        </p:nvSpPr>
        <p:spPr>
          <a:xfrm>
            <a:off x="1207008" y="3328416"/>
            <a:ext cx="3017520" cy="310896"/>
          </a:xfrm>
          <a:prstGeom prst="rect">
            <a:avLst/>
          </a:prstGeom>
          <a:noFill/>
          <a:ln/>
        </p:spPr>
        <p:txBody>
          <a:bodyPr wrap="square" lIns="0" tIns="0" rIns="0" bIns="0" rtlCol="0" anchor="ctr"/>
          <a:lstStyle/>
          <a:p>
            <a:pPr indent="0" marL="0">
              <a:buNone/>
            </a:pPr>
            <a:r>
              <a:rPr lang="en-US" sz="1400" b="1" dirty="0">
                <a:solidFill>
                  <a:srgbClr val="1E3D2F"/>
                </a:solidFill>
                <a:latin typeface="Calibri" pitchFamily="34" charset="0"/>
                <a:ea typeface="Calibri" pitchFamily="34" charset="-122"/>
                <a:cs typeface="Calibri" pitchFamily="34" charset="-120"/>
              </a:rPr>
              <a:t>IHCL + Swela Realty</a:t>
            </a:r>
            <a:endParaRPr lang="en-US" sz="1400" dirty="0"/>
          </a:p>
        </p:txBody>
      </p:sp>
      <p:sp>
        <p:nvSpPr>
          <p:cNvPr id="13" name="Text 11"/>
          <p:cNvSpPr/>
          <p:nvPr/>
        </p:nvSpPr>
        <p:spPr>
          <a:xfrm>
            <a:off x="1207008" y="3648456"/>
            <a:ext cx="3017520" cy="274320"/>
          </a:xfrm>
          <a:prstGeom prst="rect">
            <a:avLst/>
          </a:prstGeom>
          <a:noFill/>
          <a:ln/>
        </p:spPr>
        <p:txBody>
          <a:bodyPr wrap="square" lIns="0" tIns="0" rIns="0" bIns="0" rtlCol="0" anchor="ctr"/>
          <a:lstStyle/>
          <a:p>
            <a:pPr indent="0" marL="0">
              <a:buNone/>
            </a:pPr>
            <a:r>
              <a:rPr lang="en-US" sz="1000" i="1" dirty="0">
                <a:solidFill>
                  <a:srgbClr val="6B7671"/>
                </a:solidFill>
                <a:latin typeface="Calibri" pitchFamily="34" charset="0"/>
                <a:ea typeface="Calibri" pitchFamily="34" charset="-122"/>
                <a:cs typeface="Calibri" pitchFamily="34" charset="-120"/>
              </a:rPr>
              <a:t>Announced</a:t>
            </a:r>
            <a:endParaRPr lang="en-US" sz="1000" dirty="0"/>
          </a:p>
        </p:txBody>
      </p:sp>
      <p:sp>
        <p:nvSpPr>
          <p:cNvPr id="14" name="Text 12"/>
          <p:cNvSpPr/>
          <p:nvPr/>
        </p:nvSpPr>
        <p:spPr>
          <a:xfrm>
            <a:off x="4343400" y="3355848"/>
            <a:ext cx="6400800" cy="603504"/>
          </a:xfrm>
          <a:prstGeom prst="rect">
            <a:avLst/>
          </a:prstGeom>
          <a:noFill/>
          <a:ln/>
        </p:spPr>
        <p:txBody>
          <a:bodyPr wrap="square" lIns="0" tIns="0" rIns="0" bIns="0" rtlCol="0" anchor="t"/>
          <a:lstStyle/>
          <a:p>
            <a:pPr indent="0" marL="0">
              <a:buNone/>
            </a:pPr>
            <a:r>
              <a:rPr lang="en-US" sz="1200" dirty="0">
                <a:solidFill>
                  <a:srgbClr val="22282B"/>
                </a:solidFill>
                <a:latin typeface="Calibri" pitchFamily="34" charset="0"/>
                <a:ea typeface="Calibri" pitchFamily="34" charset="-122"/>
                <a:cs typeface="Calibri" pitchFamily="34" charset="-120"/>
              </a:rPr>
              <a:t>100-room Atmantan wellness destination, Hyderabad — a hotel brand paired with a land/realty partner.</a:t>
            </a:r>
            <a:endParaRPr lang="en-US" sz="1200" dirty="0"/>
          </a:p>
        </p:txBody>
      </p:sp>
      <p:sp>
        <p:nvSpPr>
          <p:cNvPr id="15" name="Shape 13"/>
          <p:cNvSpPr/>
          <p:nvPr/>
        </p:nvSpPr>
        <p:spPr>
          <a:xfrm>
            <a:off x="548640" y="4178808"/>
            <a:ext cx="10424160" cy="868680"/>
          </a:xfrm>
          <a:prstGeom prst="roundRect">
            <a:avLst>
              <a:gd name="adj" fmla="val 6316"/>
            </a:avLst>
          </a:prstGeom>
          <a:solidFill>
            <a:srgbClr val="F7F5F0"/>
          </a:solidFill>
          <a:ln w="9525">
            <a:solidFill>
              <a:srgbClr val="C3D6C8"/>
            </a:solidFill>
            <a:prstDash val="solid"/>
          </a:ln>
        </p:spPr>
      </p:sp>
      <p:sp>
        <p:nvSpPr>
          <p:cNvPr id="16" name="Shape 14"/>
          <p:cNvSpPr/>
          <p:nvPr/>
        </p:nvSpPr>
        <p:spPr>
          <a:xfrm>
            <a:off x="786384" y="4480560"/>
            <a:ext cx="256032" cy="256032"/>
          </a:xfrm>
          <a:prstGeom prst="ellipse">
            <a:avLst/>
          </a:prstGeom>
          <a:solidFill>
            <a:srgbClr val="7FA88B"/>
          </a:solidFill>
          <a:ln w="12700">
            <a:solidFill>
              <a:srgbClr val="7FA88B"/>
            </a:solidFill>
            <a:prstDash val="solid"/>
          </a:ln>
        </p:spPr>
      </p:sp>
      <p:sp>
        <p:nvSpPr>
          <p:cNvPr id="17" name="Text 15"/>
          <p:cNvSpPr/>
          <p:nvPr/>
        </p:nvSpPr>
        <p:spPr>
          <a:xfrm>
            <a:off x="1207008" y="4297680"/>
            <a:ext cx="3017520" cy="310896"/>
          </a:xfrm>
          <a:prstGeom prst="rect">
            <a:avLst/>
          </a:prstGeom>
          <a:noFill/>
          <a:ln/>
        </p:spPr>
        <p:txBody>
          <a:bodyPr wrap="square" lIns="0" tIns="0" rIns="0" bIns="0" rtlCol="0" anchor="ctr"/>
          <a:lstStyle/>
          <a:p>
            <a:pPr indent="0" marL="0">
              <a:buNone/>
            </a:pPr>
            <a:r>
              <a:rPr lang="en-US" sz="1400" b="1" dirty="0">
                <a:solidFill>
                  <a:srgbClr val="1E3D2F"/>
                </a:solidFill>
                <a:latin typeface="Calibri" pitchFamily="34" charset="0"/>
                <a:ea typeface="Calibri" pitchFamily="34" charset="-122"/>
                <a:cs typeface="Calibri" pitchFamily="34" charset="-120"/>
              </a:rPr>
              <a:t>Oberoi (EIH) + Bhartiya Hospitality</a:t>
            </a:r>
            <a:endParaRPr lang="en-US" sz="1400" dirty="0"/>
          </a:p>
        </p:txBody>
      </p:sp>
      <p:sp>
        <p:nvSpPr>
          <p:cNvPr id="18" name="Text 16"/>
          <p:cNvSpPr/>
          <p:nvPr/>
        </p:nvSpPr>
        <p:spPr>
          <a:xfrm>
            <a:off x="1207008" y="4617720"/>
            <a:ext cx="3017520" cy="274320"/>
          </a:xfrm>
          <a:prstGeom prst="rect">
            <a:avLst/>
          </a:prstGeom>
          <a:noFill/>
          <a:ln/>
        </p:spPr>
        <p:txBody>
          <a:bodyPr wrap="square" lIns="0" tIns="0" rIns="0" bIns="0" rtlCol="0" anchor="ctr"/>
          <a:lstStyle/>
          <a:p>
            <a:pPr indent="0" marL="0">
              <a:buNone/>
            </a:pPr>
            <a:r>
              <a:rPr lang="en-US" sz="1000" i="1" dirty="0">
                <a:solidFill>
                  <a:srgbClr val="6B7671"/>
                </a:solidFill>
                <a:latin typeface="Calibri" pitchFamily="34" charset="0"/>
                <a:ea typeface="Calibri" pitchFamily="34" charset="-122"/>
                <a:cs typeface="Calibri" pitchFamily="34" charset="-120"/>
              </a:rPr>
              <a:t>Announced</a:t>
            </a:r>
            <a:endParaRPr lang="en-US" sz="1000" dirty="0"/>
          </a:p>
        </p:txBody>
      </p:sp>
      <p:sp>
        <p:nvSpPr>
          <p:cNvPr id="19" name="Text 17"/>
          <p:cNvSpPr/>
          <p:nvPr/>
        </p:nvSpPr>
        <p:spPr>
          <a:xfrm>
            <a:off x="4343400" y="4325112"/>
            <a:ext cx="6400800" cy="603504"/>
          </a:xfrm>
          <a:prstGeom prst="rect">
            <a:avLst/>
          </a:prstGeom>
          <a:noFill/>
          <a:ln/>
        </p:spPr>
        <p:txBody>
          <a:bodyPr wrap="square" lIns="0" tIns="0" rIns="0" bIns="0" rtlCol="0" anchor="t"/>
          <a:lstStyle/>
          <a:p>
            <a:pPr indent="0" marL="0">
              <a:buNone/>
            </a:pPr>
            <a:r>
              <a:rPr lang="en-US" sz="1200" dirty="0">
                <a:solidFill>
                  <a:srgbClr val="22282B"/>
                </a:solidFill>
                <a:latin typeface="Calibri" pitchFamily="34" charset="0"/>
                <a:ea typeface="Calibri" pitchFamily="34" charset="-122"/>
                <a:cs typeface="Calibri" pitchFamily="34" charset="-120"/>
              </a:rPr>
              <a:t>20 ultra-luxury lifestyle resorts across India and select international destinations.</a:t>
            </a:r>
            <a:endParaRPr lang="en-US" sz="1200" dirty="0"/>
          </a:p>
        </p:txBody>
      </p:sp>
      <p:sp>
        <p:nvSpPr>
          <p:cNvPr id="20" name="Shape 18"/>
          <p:cNvSpPr/>
          <p:nvPr/>
        </p:nvSpPr>
        <p:spPr>
          <a:xfrm>
            <a:off x="548640" y="5148072"/>
            <a:ext cx="10424160" cy="868680"/>
          </a:xfrm>
          <a:prstGeom prst="roundRect">
            <a:avLst>
              <a:gd name="adj" fmla="val 6316"/>
            </a:avLst>
          </a:prstGeom>
          <a:solidFill>
            <a:srgbClr val="F7F5F0"/>
          </a:solidFill>
          <a:ln w="9525">
            <a:solidFill>
              <a:srgbClr val="C3D6C8"/>
            </a:solidFill>
            <a:prstDash val="solid"/>
          </a:ln>
        </p:spPr>
      </p:sp>
      <p:sp>
        <p:nvSpPr>
          <p:cNvPr id="21" name="Shape 19"/>
          <p:cNvSpPr/>
          <p:nvPr/>
        </p:nvSpPr>
        <p:spPr>
          <a:xfrm>
            <a:off x="786384" y="5449824"/>
            <a:ext cx="256032" cy="256032"/>
          </a:xfrm>
          <a:prstGeom prst="ellipse">
            <a:avLst/>
          </a:prstGeom>
          <a:solidFill>
            <a:srgbClr val="7FA88B"/>
          </a:solidFill>
          <a:ln w="12700">
            <a:solidFill>
              <a:srgbClr val="7FA88B"/>
            </a:solidFill>
            <a:prstDash val="solid"/>
          </a:ln>
        </p:spPr>
      </p:sp>
      <p:sp>
        <p:nvSpPr>
          <p:cNvPr id="22" name="Text 20"/>
          <p:cNvSpPr/>
          <p:nvPr/>
        </p:nvSpPr>
        <p:spPr>
          <a:xfrm>
            <a:off x="1207008" y="5266944"/>
            <a:ext cx="3017520" cy="310896"/>
          </a:xfrm>
          <a:prstGeom prst="rect">
            <a:avLst/>
          </a:prstGeom>
          <a:noFill/>
          <a:ln/>
        </p:spPr>
        <p:txBody>
          <a:bodyPr wrap="square" lIns="0" tIns="0" rIns="0" bIns="0" rtlCol="0" anchor="ctr"/>
          <a:lstStyle/>
          <a:p>
            <a:pPr indent="0" marL="0">
              <a:buNone/>
            </a:pPr>
            <a:r>
              <a:rPr lang="en-US" sz="1400" b="1" dirty="0">
                <a:solidFill>
                  <a:srgbClr val="1E3D2F"/>
                </a:solidFill>
                <a:latin typeface="Calibri" pitchFamily="34" charset="0"/>
                <a:ea typeface="Calibri" pitchFamily="34" charset="-122"/>
                <a:cs typeface="Calibri" pitchFamily="34" charset="-120"/>
              </a:rPr>
              <a:t>Ajmera Realty</a:t>
            </a:r>
            <a:endParaRPr lang="en-US" sz="1400" dirty="0"/>
          </a:p>
        </p:txBody>
      </p:sp>
      <p:sp>
        <p:nvSpPr>
          <p:cNvPr id="23" name="Text 21"/>
          <p:cNvSpPr/>
          <p:nvPr/>
        </p:nvSpPr>
        <p:spPr>
          <a:xfrm>
            <a:off x="1207008" y="5586984"/>
            <a:ext cx="3017520" cy="274320"/>
          </a:xfrm>
          <a:prstGeom prst="rect">
            <a:avLst/>
          </a:prstGeom>
          <a:noFill/>
          <a:ln/>
        </p:spPr>
        <p:txBody>
          <a:bodyPr wrap="square" lIns="0" tIns="0" rIns="0" bIns="0" rtlCol="0" anchor="ctr"/>
          <a:lstStyle/>
          <a:p>
            <a:pPr indent="0" marL="0">
              <a:buNone/>
            </a:pPr>
            <a:r>
              <a:rPr lang="en-US" sz="1000" i="1" dirty="0">
                <a:solidFill>
                  <a:srgbClr val="6B7671"/>
                </a:solidFill>
                <a:latin typeface="Calibri" pitchFamily="34" charset="0"/>
                <a:ea typeface="Calibri" pitchFamily="34" charset="-122"/>
                <a:cs typeface="Calibri" pitchFamily="34" charset="-120"/>
              </a:rPr>
              <a:t>Announced</a:t>
            </a:r>
            <a:endParaRPr lang="en-US" sz="1000" dirty="0"/>
          </a:p>
        </p:txBody>
      </p:sp>
      <p:sp>
        <p:nvSpPr>
          <p:cNvPr id="24" name="Text 22"/>
          <p:cNvSpPr/>
          <p:nvPr/>
        </p:nvSpPr>
        <p:spPr>
          <a:xfrm>
            <a:off x="4343400" y="5294376"/>
            <a:ext cx="6400800" cy="603504"/>
          </a:xfrm>
          <a:prstGeom prst="rect">
            <a:avLst/>
          </a:prstGeom>
          <a:noFill/>
          <a:ln/>
        </p:spPr>
        <p:txBody>
          <a:bodyPr wrap="square" lIns="0" tIns="0" rIns="0" bIns="0" rtlCol="0" anchor="t"/>
          <a:lstStyle/>
          <a:p>
            <a:pPr indent="0" marL="0">
              <a:buNone/>
            </a:pPr>
            <a:r>
              <a:rPr lang="en-US" sz="1200" dirty="0">
                <a:solidFill>
                  <a:srgbClr val="22282B"/>
                </a:solidFill>
                <a:latin typeface="Calibri" pitchFamily="34" charset="0"/>
                <a:ea typeface="Calibri" pitchFamily="34" charset="-122"/>
                <a:cs typeface="Calibri" pitchFamily="34" charset="-120"/>
              </a:rPr>
              <a:t>Integrated luxury wellness development at Tirupati — villas, hospitality and dedicated wellness.</a:t>
            </a:r>
            <a:endParaRPr lang="en-US" sz="1200" dirty="0"/>
          </a:p>
        </p:txBody>
      </p:sp>
      <p:sp>
        <p:nvSpPr>
          <p:cNvPr id="25" name="Text 23"/>
          <p:cNvSpPr/>
          <p:nvPr/>
        </p:nvSpPr>
        <p:spPr>
          <a:xfrm>
            <a:off x="548640" y="6382512"/>
            <a:ext cx="11064240" cy="310896"/>
          </a:xfrm>
          <a:prstGeom prst="rect">
            <a:avLst/>
          </a:prstGeom>
          <a:noFill/>
          <a:ln/>
        </p:spPr>
        <p:txBody>
          <a:bodyPr wrap="square" lIns="0" tIns="0" rIns="0" bIns="0" rtlCol="0" anchor="ctr"/>
          <a:lstStyle/>
          <a:p>
            <a:pPr indent="0" marL="0">
              <a:buNone/>
            </a:pPr>
            <a:r>
              <a:rPr lang="en-US" sz="900" i="1" dirty="0">
                <a:solidFill>
                  <a:srgbClr val="6B7671"/>
                </a:solidFill>
                <a:latin typeface="Calibri" pitchFamily="34" charset="0"/>
                <a:ea typeface="Calibri" pitchFamily="34" charset="-122"/>
                <a:cs typeface="Calibri" pitchFamily="34" charset="-120"/>
              </a:rPr>
              <a:t>Sources: Business Standard, Hotel Online, ScanX, Skift, Outlook Business, Travel &amp; Tour World.</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1064240" cy="237744"/>
          </a:xfrm>
          <a:prstGeom prst="rect">
            <a:avLst/>
          </a:prstGeom>
          <a:noFill/>
          <a:ln/>
        </p:spPr>
        <p:txBody>
          <a:bodyPr wrap="square" lIns="0" tIns="0" rIns="0" bIns="0" rtlCol="0" anchor="ctr"/>
          <a:lstStyle/>
          <a:p>
            <a:pPr indent="0" marL="0">
              <a:buNone/>
            </a:pPr>
            <a:r>
              <a:rPr lang="en-US" sz="1100" b="1" spc="200" kern="0" dirty="0">
                <a:solidFill>
                  <a:srgbClr val="7FA88B"/>
                </a:solidFill>
                <a:latin typeface="Calibri" pitchFamily="34" charset="0"/>
                <a:ea typeface="Calibri" pitchFamily="34" charset="-122"/>
                <a:cs typeface="Calibri" pitchFamily="34" charset="-120"/>
              </a:rPr>
              <a:t>SCOPE</a:t>
            </a:r>
            <a:endParaRPr lang="en-US" sz="11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200" b="1" dirty="0">
                <a:solidFill>
                  <a:srgbClr val="1E3D2F"/>
                </a:solidFill>
                <a:latin typeface="Cambria" pitchFamily="34" charset="0"/>
                <a:ea typeface="Cambria" pitchFamily="34" charset="-122"/>
                <a:cs typeface="Cambria" pitchFamily="34" charset="-120"/>
              </a:rPr>
              <a:t>The panel: 24 properties across six archetypes</a:t>
            </a:r>
            <a:endParaRPr lang="en-US" sz="3200" dirty="0"/>
          </a:p>
        </p:txBody>
      </p:sp>
      <p:sp>
        <p:nvSpPr>
          <p:cNvPr id="4" name="Shape 2"/>
          <p:cNvSpPr/>
          <p:nvPr/>
        </p:nvSpPr>
        <p:spPr>
          <a:xfrm>
            <a:off x="548640" y="1508760"/>
            <a:ext cx="10424160" cy="749808"/>
          </a:xfrm>
          <a:prstGeom prst="roundRect">
            <a:avLst>
              <a:gd name="adj" fmla="val 7317"/>
            </a:avLst>
          </a:prstGeom>
          <a:solidFill>
            <a:srgbClr val="F7F5F0"/>
          </a:solidFill>
          <a:ln w="9525">
            <a:solidFill>
              <a:srgbClr val="C3D6C8"/>
            </a:solidFill>
            <a:prstDash val="solid"/>
          </a:ln>
        </p:spPr>
      </p:sp>
      <p:sp>
        <p:nvSpPr>
          <p:cNvPr id="5" name="Text 3"/>
          <p:cNvSpPr/>
          <p:nvPr/>
        </p:nvSpPr>
        <p:spPr>
          <a:xfrm>
            <a:off x="804672" y="1600200"/>
            <a:ext cx="3017520" cy="274320"/>
          </a:xfrm>
          <a:prstGeom prst="rect">
            <a:avLst/>
          </a:prstGeom>
          <a:noFill/>
          <a:ln/>
        </p:spPr>
        <p:txBody>
          <a:bodyPr wrap="square" lIns="0" tIns="0" rIns="0" bIns="0" rtlCol="0" anchor="ctr"/>
          <a:lstStyle/>
          <a:p>
            <a:pPr indent="0" marL="0">
              <a:buNone/>
            </a:pPr>
            <a:r>
              <a:rPr lang="en-US" sz="1300" b="1" dirty="0">
                <a:solidFill>
                  <a:srgbClr val="1E3D2F"/>
                </a:solidFill>
                <a:latin typeface="Calibri" pitchFamily="34" charset="0"/>
                <a:ea typeface="Calibri" pitchFamily="34" charset="-122"/>
                <a:cs typeface="Calibri" pitchFamily="34" charset="-120"/>
              </a:rPr>
              <a:t>Luxury medical wellness</a:t>
            </a:r>
            <a:endParaRPr lang="en-US" sz="1300" dirty="0"/>
          </a:p>
        </p:txBody>
      </p:sp>
      <p:sp>
        <p:nvSpPr>
          <p:cNvPr id="6" name="Text 4"/>
          <p:cNvSpPr/>
          <p:nvPr/>
        </p:nvSpPr>
        <p:spPr>
          <a:xfrm>
            <a:off x="804672" y="1911096"/>
            <a:ext cx="3017520" cy="256032"/>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7" name="Text 5"/>
          <p:cNvSpPr/>
          <p:nvPr/>
        </p:nvSpPr>
        <p:spPr>
          <a:xfrm>
            <a:off x="3977640" y="1655064"/>
            <a:ext cx="6766560" cy="502920"/>
          </a:xfrm>
          <a:prstGeom prst="rect">
            <a:avLst/>
          </a:prstGeom>
          <a:noFill/>
          <a:ln/>
        </p:spPr>
        <p:txBody>
          <a:bodyPr wrap="square" lIns="0" tIns="0" rIns="0" bIns="0" rtlCol="0" anchor="t"/>
          <a:lstStyle/>
          <a:p>
            <a:pPr indent="0" marL="0">
              <a:buNone/>
            </a:pPr>
            <a:r>
              <a:rPr lang="en-US" sz="1150" dirty="0">
                <a:solidFill>
                  <a:srgbClr val="22282B"/>
                </a:solidFill>
                <a:latin typeface="Calibri" pitchFamily="34" charset="0"/>
                <a:ea typeface="Calibri" pitchFamily="34" charset="-122"/>
                <a:cs typeface="Calibri" pitchFamily="34" charset="-120"/>
              </a:rPr>
              <a:t>Ananda · Six Senses Vana · Atmantan · SOUKYA · Dharana at Shillim</a:t>
            </a:r>
            <a:endParaRPr lang="en-US" sz="1150" dirty="0"/>
          </a:p>
        </p:txBody>
      </p:sp>
      <p:sp>
        <p:nvSpPr>
          <p:cNvPr id="8" name="Shape 6"/>
          <p:cNvSpPr/>
          <p:nvPr/>
        </p:nvSpPr>
        <p:spPr>
          <a:xfrm>
            <a:off x="548640" y="2331720"/>
            <a:ext cx="10424160" cy="749808"/>
          </a:xfrm>
          <a:prstGeom prst="roundRect">
            <a:avLst>
              <a:gd name="adj" fmla="val 7317"/>
            </a:avLst>
          </a:prstGeom>
          <a:solidFill>
            <a:srgbClr val="FFFFFF"/>
          </a:solidFill>
          <a:ln w="9525">
            <a:solidFill>
              <a:srgbClr val="C3D6C8"/>
            </a:solidFill>
            <a:prstDash val="solid"/>
          </a:ln>
        </p:spPr>
      </p:sp>
      <p:sp>
        <p:nvSpPr>
          <p:cNvPr id="9" name="Text 7"/>
          <p:cNvSpPr/>
          <p:nvPr/>
        </p:nvSpPr>
        <p:spPr>
          <a:xfrm>
            <a:off x="804672" y="2423160"/>
            <a:ext cx="3017520" cy="274320"/>
          </a:xfrm>
          <a:prstGeom prst="rect">
            <a:avLst/>
          </a:prstGeom>
          <a:noFill/>
          <a:ln/>
        </p:spPr>
        <p:txBody>
          <a:bodyPr wrap="square" lIns="0" tIns="0" rIns="0" bIns="0" rtlCol="0" anchor="ctr"/>
          <a:lstStyle/>
          <a:p>
            <a:pPr indent="0" marL="0">
              <a:buNone/>
            </a:pPr>
            <a:r>
              <a:rPr lang="en-US" sz="1300" b="1" dirty="0">
                <a:solidFill>
                  <a:srgbClr val="1E3D2F"/>
                </a:solidFill>
                <a:latin typeface="Calibri" pitchFamily="34" charset="0"/>
                <a:ea typeface="Calibri" pitchFamily="34" charset="-122"/>
                <a:cs typeface="Calibri" pitchFamily="34" charset="-120"/>
              </a:rPr>
              <a:t>Classical Ayurveda purist</a:t>
            </a:r>
            <a:endParaRPr lang="en-US" sz="1300" dirty="0"/>
          </a:p>
        </p:txBody>
      </p:sp>
      <p:sp>
        <p:nvSpPr>
          <p:cNvPr id="10" name="Text 8"/>
          <p:cNvSpPr/>
          <p:nvPr/>
        </p:nvSpPr>
        <p:spPr>
          <a:xfrm>
            <a:off x="804672" y="2734056"/>
            <a:ext cx="3017520" cy="256032"/>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11" name="Text 9"/>
          <p:cNvSpPr/>
          <p:nvPr/>
        </p:nvSpPr>
        <p:spPr>
          <a:xfrm>
            <a:off x="3977640" y="2478024"/>
            <a:ext cx="6766560" cy="502920"/>
          </a:xfrm>
          <a:prstGeom prst="rect">
            <a:avLst/>
          </a:prstGeom>
          <a:noFill/>
          <a:ln/>
        </p:spPr>
        <p:txBody>
          <a:bodyPr wrap="square" lIns="0" tIns="0" rIns="0" bIns="0" rtlCol="0" anchor="t"/>
          <a:lstStyle/>
          <a:p>
            <a:pPr indent="0" marL="0">
              <a:buNone/>
            </a:pPr>
            <a:r>
              <a:rPr lang="en-US" sz="1150" dirty="0">
                <a:solidFill>
                  <a:srgbClr val="22282B"/>
                </a:solidFill>
                <a:latin typeface="Calibri" pitchFamily="34" charset="0"/>
                <a:ea typeface="Calibri" pitchFamily="34" charset="-122"/>
                <a:cs typeface="Calibri" pitchFamily="34" charset="-120"/>
              </a:rPr>
              <a:t>Kalari Kovilakom · Vaidyagrama · Amal Tamara · Somatheeram · Kairali · Carnoustie</a:t>
            </a:r>
            <a:endParaRPr lang="en-US" sz="1150" dirty="0"/>
          </a:p>
        </p:txBody>
      </p:sp>
      <p:sp>
        <p:nvSpPr>
          <p:cNvPr id="12" name="Shape 10"/>
          <p:cNvSpPr/>
          <p:nvPr/>
        </p:nvSpPr>
        <p:spPr>
          <a:xfrm>
            <a:off x="548640" y="3154680"/>
            <a:ext cx="10424160" cy="749808"/>
          </a:xfrm>
          <a:prstGeom prst="roundRect">
            <a:avLst>
              <a:gd name="adj" fmla="val 7317"/>
            </a:avLst>
          </a:prstGeom>
          <a:solidFill>
            <a:srgbClr val="F7F5F0"/>
          </a:solidFill>
          <a:ln w="9525">
            <a:solidFill>
              <a:srgbClr val="C3D6C8"/>
            </a:solidFill>
            <a:prstDash val="solid"/>
          </a:ln>
        </p:spPr>
      </p:sp>
      <p:sp>
        <p:nvSpPr>
          <p:cNvPr id="13" name="Text 11"/>
          <p:cNvSpPr/>
          <p:nvPr/>
        </p:nvSpPr>
        <p:spPr>
          <a:xfrm>
            <a:off x="804672" y="3246120"/>
            <a:ext cx="3017520" cy="274320"/>
          </a:xfrm>
          <a:prstGeom prst="rect">
            <a:avLst/>
          </a:prstGeom>
          <a:noFill/>
          <a:ln/>
        </p:spPr>
        <p:txBody>
          <a:bodyPr wrap="square" lIns="0" tIns="0" rIns="0" bIns="0" rtlCol="0" anchor="ctr"/>
          <a:lstStyle/>
          <a:p>
            <a:pPr indent="0" marL="0">
              <a:buNone/>
            </a:pPr>
            <a:r>
              <a:rPr lang="en-US" sz="1300" b="1" dirty="0">
                <a:solidFill>
                  <a:srgbClr val="1E3D2F"/>
                </a:solidFill>
                <a:latin typeface="Calibri" pitchFamily="34" charset="0"/>
                <a:ea typeface="Calibri" pitchFamily="34" charset="-122"/>
                <a:cs typeface="Calibri" pitchFamily="34" charset="-120"/>
              </a:rPr>
              <a:t>Mass-scale naturopathy</a:t>
            </a:r>
            <a:endParaRPr lang="en-US" sz="1300" dirty="0"/>
          </a:p>
        </p:txBody>
      </p:sp>
      <p:sp>
        <p:nvSpPr>
          <p:cNvPr id="14" name="Text 12"/>
          <p:cNvSpPr/>
          <p:nvPr/>
        </p:nvSpPr>
        <p:spPr>
          <a:xfrm>
            <a:off x="804672" y="3557016"/>
            <a:ext cx="3017520" cy="256032"/>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3977640" y="3300984"/>
            <a:ext cx="6766560" cy="502920"/>
          </a:xfrm>
          <a:prstGeom prst="rect">
            <a:avLst/>
          </a:prstGeom>
          <a:noFill/>
          <a:ln/>
        </p:spPr>
        <p:txBody>
          <a:bodyPr wrap="square" lIns="0" tIns="0" rIns="0" bIns="0" rtlCol="0" anchor="t"/>
          <a:lstStyle/>
          <a:p>
            <a:pPr indent="0" marL="0">
              <a:buNone/>
            </a:pPr>
            <a:r>
              <a:rPr lang="en-US" sz="1150" dirty="0">
                <a:solidFill>
                  <a:srgbClr val="22282B"/>
                </a:solidFill>
                <a:latin typeface="Calibri" pitchFamily="34" charset="0"/>
                <a:ea typeface="Calibri" pitchFamily="34" charset="-122"/>
                <a:cs typeface="Calibri" pitchFamily="34" charset="-120"/>
              </a:rPr>
              <a:t>Jindal Naturecure · Nimba · Patanjali Yog Gram · Prakriti Shakti · Arogyadhama</a:t>
            </a:r>
            <a:endParaRPr lang="en-US" sz="1150" dirty="0"/>
          </a:p>
        </p:txBody>
      </p:sp>
      <p:sp>
        <p:nvSpPr>
          <p:cNvPr id="16" name="Shape 14"/>
          <p:cNvSpPr/>
          <p:nvPr/>
        </p:nvSpPr>
        <p:spPr>
          <a:xfrm>
            <a:off x="548640" y="3977640"/>
            <a:ext cx="10424160" cy="749808"/>
          </a:xfrm>
          <a:prstGeom prst="roundRect">
            <a:avLst>
              <a:gd name="adj" fmla="val 7317"/>
            </a:avLst>
          </a:prstGeom>
          <a:solidFill>
            <a:srgbClr val="FFFFFF"/>
          </a:solidFill>
          <a:ln w="9525">
            <a:solidFill>
              <a:srgbClr val="C3D6C8"/>
            </a:solidFill>
            <a:prstDash val="solid"/>
          </a:ln>
        </p:spPr>
      </p:sp>
      <p:sp>
        <p:nvSpPr>
          <p:cNvPr id="17" name="Text 15"/>
          <p:cNvSpPr/>
          <p:nvPr/>
        </p:nvSpPr>
        <p:spPr>
          <a:xfrm>
            <a:off x="804672" y="4069080"/>
            <a:ext cx="3017520" cy="274320"/>
          </a:xfrm>
          <a:prstGeom prst="rect">
            <a:avLst/>
          </a:prstGeom>
          <a:noFill/>
          <a:ln/>
        </p:spPr>
        <p:txBody>
          <a:bodyPr wrap="square" lIns="0" tIns="0" rIns="0" bIns="0" rtlCol="0" anchor="ctr"/>
          <a:lstStyle/>
          <a:p>
            <a:pPr indent="0" marL="0">
              <a:buNone/>
            </a:pPr>
            <a:r>
              <a:rPr lang="en-US" sz="1300" b="1" dirty="0">
                <a:solidFill>
                  <a:srgbClr val="1E3D2F"/>
                </a:solidFill>
                <a:latin typeface="Calibri" pitchFamily="34" charset="0"/>
                <a:ea typeface="Calibri" pitchFamily="34" charset="-122"/>
                <a:cs typeface="Calibri" pitchFamily="34" charset="-120"/>
              </a:rPr>
              <a:t>Spiritual / yoga-led</a:t>
            </a:r>
            <a:endParaRPr lang="en-US" sz="1300" dirty="0"/>
          </a:p>
        </p:txBody>
      </p:sp>
      <p:sp>
        <p:nvSpPr>
          <p:cNvPr id="18" name="Text 16"/>
          <p:cNvSpPr/>
          <p:nvPr/>
        </p:nvSpPr>
        <p:spPr>
          <a:xfrm>
            <a:off x="804672" y="4379976"/>
            <a:ext cx="3017520" cy="256032"/>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19" name="Text 17"/>
          <p:cNvSpPr/>
          <p:nvPr/>
        </p:nvSpPr>
        <p:spPr>
          <a:xfrm>
            <a:off x="3977640" y="4123944"/>
            <a:ext cx="6766560" cy="502920"/>
          </a:xfrm>
          <a:prstGeom prst="rect">
            <a:avLst/>
          </a:prstGeom>
          <a:noFill/>
          <a:ln/>
        </p:spPr>
        <p:txBody>
          <a:bodyPr wrap="square" lIns="0" tIns="0" rIns="0" bIns="0" rtlCol="0" anchor="t"/>
          <a:lstStyle/>
          <a:p>
            <a:pPr indent="0" marL="0">
              <a:buNone/>
            </a:pPr>
            <a:r>
              <a:rPr lang="en-US" sz="1150" dirty="0">
                <a:solidFill>
                  <a:srgbClr val="22282B"/>
                </a:solidFill>
                <a:latin typeface="Calibri" pitchFamily="34" charset="0"/>
                <a:ea typeface="Calibri" pitchFamily="34" charset="-122"/>
                <a:cs typeface="Calibri" pitchFamily="34" charset="-120"/>
              </a:rPr>
              <a:t>Isha Rejuvenation · AyurvedaGram · Kaivalyadhama</a:t>
            </a:r>
            <a:endParaRPr lang="en-US" sz="1150" dirty="0"/>
          </a:p>
        </p:txBody>
      </p:sp>
      <p:sp>
        <p:nvSpPr>
          <p:cNvPr id="20" name="Shape 18"/>
          <p:cNvSpPr/>
          <p:nvPr/>
        </p:nvSpPr>
        <p:spPr>
          <a:xfrm>
            <a:off x="548640" y="4800600"/>
            <a:ext cx="10424160" cy="749808"/>
          </a:xfrm>
          <a:prstGeom prst="roundRect">
            <a:avLst>
              <a:gd name="adj" fmla="val 7317"/>
            </a:avLst>
          </a:prstGeom>
          <a:solidFill>
            <a:srgbClr val="F7F5F0"/>
          </a:solidFill>
          <a:ln w="9525">
            <a:solidFill>
              <a:srgbClr val="C3D6C8"/>
            </a:solidFill>
            <a:prstDash val="solid"/>
          </a:ln>
        </p:spPr>
      </p:sp>
      <p:sp>
        <p:nvSpPr>
          <p:cNvPr id="21" name="Text 19"/>
          <p:cNvSpPr/>
          <p:nvPr/>
        </p:nvSpPr>
        <p:spPr>
          <a:xfrm>
            <a:off x="804672" y="4892040"/>
            <a:ext cx="3017520" cy="274320"/>
          </a:xfrm>
          <a:prstGeom prst="rect">
            <a:avLst/>
          </a:prstGeom>
          <a:noFill/>
          <a:ln/>
        </p:spPr>
        <p:txBody>
          <a:bodyPr wrap="square" lIns="0" tIns="0" rIns="0" bIns="0" rtlCol="0" anchor="ctr"/>
          <a:lstStyle/>
          <a:p>
            <a:pPr indent="0" marL="0">
              <a:buNone/>
            </a:pPr>
            <a:r>
              <a:rPr lang="en-US" sz="1300" b="1" dirty="0">
                <a:solidFill>
                  <a:srgbClr val="1E3D2F"/>
                </a:solidFill>
                <a:latin typeface="Calibri" pitchFamily="34" charset="0"/>
                <a:ea typeface="Calibri" pitchFamily="34" charset="-122"/>
                <a:cs typeface="Calibri" pitchFamily="34" charset="-120"/>
              </a:rPr>
              <a:t>Resort-wellness hybrid</a:t>
            </a:r>
            <a:endParaRPr lang="en-US" sz="1300" dirty="0"/>
          </a:p>
        </p:txBody>
      </p:sp>
      <p:sp>
        <p:nvSpPr>
          <p:cNvPr id="22" name="Text 20"/>
          <p:cNvSpPr/>
          <p:nvPr/>
        </p:nvSpPr>
        <p:spPr>
          <a:xfrm>
            <a:off x="804672" y="5202936"/>
            <a:ext cx="3017520" cy="256032"/>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23" name="Text 21"/>
          <p:cNvSpPr/>
          <p:nvPr/>
        </p:nvSpPr>
        <p:spPr>
          <a:xfrm>
            <a:off x="3977640" y="4946904"/>
            <a:ext cx="6766560" cy="502920"/>
          </a:xfrm>
          <a:prstGeom prst="rect">
            <a:avLst/>
          </a:prstGeom>
          <a:noFill/>
          <a:ln/>
        </p:spPr>
        <p:txBody>
          <a:bodyPr wrap="square" lIns="0" tIns="0" rIns="0" bIns="0" rtlCol="0" anchor="t"/>
          <a:lstStyle/>
          <a:p>
            <a:pPr indent="0" marL="0">
              <a:buNone/>
            </a:pPr>
            <a:r>
              <a:rPr lang="en-US" sz="1150" dirty="0">
                <a:solidFill>
                  <a:srgbClr val="22282B"/>
                </a:solidFill>
                <a:latin typeface="Calibri" pitchFamily="34" charset="0"/>
                <a:ea typeface="Calibri" pitchFamily="34" charset="-122"/>
                <a:cs typeface="Calibri" pitchFamily="34" charset="-120"/>
              </a:rPr>
              <a:t>Niraamaya · Six Senses Fort Barwara · SwaSwara · Shreyas Retreat</a:t>
            </a:r>
            <a:endParaRPr lang="en-US" sz="1150" dirty="0"/>
          </a:p>
        </p:txBody>
      </p:sp>
      <p:sp>
        <p:nvSpPr>
          <p:cNvPr id="24" name="Shape 22"/>
          <p:cNvSpPr/>
          <p:nvPr/>
        </p:nvSpPr>
        <p:spPr>
          <a:xfrm>
            <a:off x="548640" y="5623560"/>
            <a:ext cx="10424160" cy="749808"/>
          </a:xfrm>
          <a:prstGeom prst="roundRect">
            <a:avLst>
              <a:gd name="adj" fmla="val 7317"/>
            </a:avLst>
          </a:prstGeom>
          <a:solidFill>
            <a:srgbClr val="FFFFFF"/>
          </a:solidFill>
          <a:ln w="9525">
            <a:solidFill>
              <a:srgbClr val="C3D6C8"/>
            </a:solidFill>
            <a:prstDash val="solid"/>
          </a:ln>
        </p:spPr>
      </p:sp>
      <p:sp>
        <p:nvSpPr>
          <p:cNvPr id="25" name="Text 23"/>
          <p:cNvSpPr/>
          <p:nvPr/>
        </p:nvSpPr>
        <p:spPr>
          <a:xfrm>
            <a:off x="804672" y="5715000"/>
            <a:ext cx="3017520" cy="274320"/>
          </a:xfrm>
          <a:prstGeom prst="rect">
            <a:avLst/>
          </a:prstGeom>
          <a:noFill/>
          <a:ln/>
        </p:spPr>
        <p:txBody>
          <a:bodyPr wrap="square" lIns="0" tIns="0" rIns="0" bIns="0" rtlCol="0" anchor="ctr"/>
          <a:lstStyle/>
          <a:p>
            <a:pPr indent="0" marL="0">
              <a:buNone/>
            </a:pPr>
            <a:r>
              <a:rPr lang="en-US" sz="1300" b="1" dirty="0">
                <a:solidFill>
                  <a:srgbClr val="1E3D2F"/>
                </a:solidFill>
                <a:latin typeface="Calibri" pitchFamily="34" charset="0"/>
                <a:ea typeface="Calibri" pitchFamily="34" charset="-122"/>
                <a:cs typeface="Calibri" pitchFamily="34" charset="-120"/>
              </a:rPr>
              <a:t>Urban / new-format</a:t>
            </a:r>
            <a:endParaRPr lang="en-US" sz="1300" dirty="0"/>
          </a:p>
        </p:txBody>
      </p:sp>
      <p:sp>
        <p:nvSpPr>
          <p:cNvPr id="26" name="Text 24"/>
          <p:cNvSpPr/>
          <p:nvPr/>
        </p:nvSpPr>
        <p:spPr>
          <a:xfrm>
            <a:off x="804672" y="6025896"/>
            <a:ext cx="3017520" cy="256032"/>
          </a:xfrm>
          <a:prstGeom prst="rect">
            <a:avLst/>
          </a:prstGeom>
          <a:noFill/>
          <a:ln/>
        </p:spPr>
        <p:txBody>
          <a:bodyPr wrap="square" lIns="0" tIns="0" rIns="0" bIns="0" rtlCol="0" anchor="ctr"/>
          <a:lstStyle/>
          <a:p>
            <a:pPr indent="0" marL="0">
              <a:buNone/>
            </a:pPr>
            <a:r>
              <a:rPr lang="en-US" sz="1200" b="1" dirty="0">
                <a:solidFill>
                  <a:srgbClr val="C9A227"/>
                </a:solidFill>
                <a:latin typeface="Calibri" pitchFamily="34" charset="0"/>
                <a:ea typeface="Calibri" pitchFamily="34" charset="-122"/>
                <a:cs typeface="Calibri" pitchFamily="34" charset="-120"/>
              </a:rPr>
              <a:t>₹–₹₹</a:t>
            </a:r>
            <a:endParaRPr lang="en-US" sz="1200" dirty="0"/>
          </a:p>
        </p:txBody>
      </p:sp>
      <p:sp>
        <p:nvSpPr>
          <p:cNvPr id="27" name="Text 25"/>
          <p:cNvSpPr/>
          <p:nvPr/>
        </p:nvSpPr>
        <p:spPr>
          <a:xfrm>
            <a:off x="3977640" y="5769864"/>
            <a:ext cx="6766560" cy="502920"/>
          </a:xfrm>
          <a:prstGeom prst="rect">
            <a:avLst/>
          </a:prstGeom>
          <a:noFill/>
          <a:ln/>
        </p:spPr>
        <p:txBody>
          <a:bodyPr wrap="square" lIns="0" tIns="0" rIns="0" bIns="0" rtlCol="0" anchor="t"/>
          <a:lstStyle/>
          <a:p>
            <a:pPr indent="0" marL="0">
              <a:buNone/>
            </a:pPr>
            <a:r>
              <a:rPr lang="en-US" sz="1150" dirty="0">
                <a:solidFill>
                  <a:srgbClr val="22282B"/>
                </a:solidFill>
                <a:latin typeface="Calibri" pitchFamily="34" charset="0"/>
                <a:ea typeface="Calibri" pitchFamily="34" charset="-122"/>
                <a:cs typeface="Calibri" pitchFamily="34" charset="-120"/>
              </a:rPr>
              <a:t>Naad Wellness</a:t>
            </a:r>
            <a:endParaRPr lang="en-US" sz="1150" dirty="0"/>
          </a:p>
        </p:txBody>
      </p:sp>
      <p:sp>
        <p:nvSpPr>
          <p:cNvPr id="28" name="Text 26"/>
          <p:cNvSpPr/>
          <p:nvPr/>
        </p:nvSpPr>
        <p:spPr>
          <a:xfrm>
            <a:off x="548640" y="6382512"/>
            <a:ext cx="11064240" cy="310896"/>
          </a:xfrm>
          <a:prstGeom prst="rect">
            <a:avLst/>
          </a:prstGeom>
          <a:noFill/>
          <a:ln/>
        </p:spPr>
        <p:txBody>
          <a:bodyPr wrap="square" lIns="0" tIns="0" rIns="0" bIns="0" rtlCol="0" anchor="ctr"/>
          <a:lstStyle/>
          <a:p>
            <a:pPr indent="0" marL="0">
              <a:buNone/>
            </a:pPr>
            <a:r>
              <a:rPr lang="en-US" sz="900" i="1" dirty="0">
                <a:solidFill>
                  <a:srgbClr val="6B7671"/>
                </a:solidFill>
                <a:latin typeface="Calibri" pitchFamily="34" charset="0"/>
                <a:ea typeface="Calibri" pitchFamily="34" charset="-122"/>
                <a:cs typeface="Calibri" pitchFamily="34" charset="-120"/>
              </a:rPr>
              <a:t>Ranking basis: weighted composite — scale &amp; footprint 30% · brand strength 25% · clinical credibility 25% · growth momentum 20%. All 24 analysed; top 20 profiled.</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1064240" cy="237744"/>
          </a:xfrm>
          <a:prstGeom prst="rect">
            <a:avLst/>
          </a:prstGeom>
          <a:noFill/>
          <a:ln/>
        </p:spPr>
        <p:txBody>
          <a:bodyPr wrap="square" lIns="0" tIns="0" rIns="0" bIns="0" rtlCol="0" anchor="ctr"/>
          <a:lstStyle/>
          <a:p>
            <a:pPr indent="0" marL="0">
              <a:buNone/>
            </a:pPr>
            <a:r>
              <a:rPr lang="en-US" sz="1100" b="1" spc="200" kern="0" dirty="0">
                <a:solidFill>
                  <a:srgbClr val="7FA88B"/>
                </a:solidFill>
                <a:latin typeface="Calibri" pitchFamily="34" charset="0"/>
                <a:ea typeface="Calibri" pitchFamily="34" charset="-122"/>
                <a:cs typeface="Calibri" pitchFamily="34" charset="-120"/>
              </a:rPr>
              <a:t>THE ATMANTAN ANCHOR</a:t>
            </a:r>
            <a:endParaRPr lang="en-US" sz="11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200" b="1" dirty="0">
                <a:solidFill>
                  <a:srgbClr val="1E3D2F"/>
                </a:solidFill>
                <a:latin typeface="Cambria" pitchFamily="34" charset="0"/>
                <a:ea typeface="Cambria" pitchFamily="34" charset="-122"/>
                <a:cs typeface="Cambria" pitchFamily="34" charset="-120"/>
              </a:rPr>
              <a:t>One real transaction calibrates the entire model</a:t>
            </a:r>
            <a:endParaRPr lang="en-US" sz="3200" dirty="0"/>
          </a:p>
        </p:txBody>
      </p:sp>
      <p:sp>
        <p:nvSpPr>
          <p:cNvPr id="4" name="Text 2"/>
          <p:cNvSpPr/>
          <p:nvPr/>
        </p:nvSpPr>
        <p:spPr>
          <a:xfrm>
            <a:off x="548640" y="1481328"/>
            <a:ext cx="10424160" cy="502920"/>
          </a:xfrm>
          <a:prstGeom prst="rect">
            <a:avLst/>
          </a:prstGeom>
          <a:noFill/>
          <a:ln/>
        </p:spPr>
        <p:txBody>
          <a:bodyPr wrap="square" lIns="0" tIns="0" rIns="0" bIns="0" rtlCol="0" anchor="ctr"/>
          <a:lstStyle/>
          <a:p>
            <a:pPr indent="0" marL="0">
              <a:buNone/>
            </a:pPr>
            <a:r>
              <a:rPr lang="en-US" sz="1500" dirty="0">
                <a:solidFill>
                  <a:srgbClr val="22282B"/>
                </a:solidFill>
                <a:latin typeface="Calibri" pitchFamily="34" charset="0"/>
                <a:ea typeface="Calibri" pitchFamily="34" charset="-122"/>
                <a:cs typeface="Calibri" pitchFamily="34" charset="-120"/>
              </a:rPr>
              <a:t>The IHCL deal is the only event in this sector that put audited revenue, key count and an enterprise value into the public record at the same time. Everything else is modelled against it.</a:t>
            </a:r>
            <a:endParaRPr lang="en-US" sz="1500" dirty="0"/>
          </a:p>
        </p:txBody>
      </p:sp>
      <p:sp>
        <p:nvSpPr>
          <p:cNvPr id="5" name="Shape 3"/>
          <p:cNvSpPr/>
          <p:nvPr/>
        </p:nvSpPr>
        <p:spPr>
          <a:xfrm>
            <a:off x="548640" y="2194560"/>
            <a:ext cx="2432304" cy="1417320"/>
          </a:xfrm>
          <a:prstGeom prst="roundRect">
            <a:avLst>
              <a:gd name="adj" fmla="val 3871"/>
            </a:avLst>
          </a:prstGeom>
          <a:solidFill>
            <a:srgbClr val="F7F5F0"/>
          </a:solidFill>
          <a:ln w="9525">
            <a:solidFill>
              <a:srgbClr val="C3D6C8"/>
            </a:solidFill>
            <a:prstDash val="solid"/>
          </a:ln>
        </p:spPr>
      </p:sp>
      <p:sp>
        <p:nvSpPr>
          <p:cNvPr id="6" name="Text 4"/>
          <p:cNvSpPr/>
          <p:nvPr/>
        </p:nvSpPr>
        <p:spPr>
          <a:xfrm>
            <a:off x="713232" y="2340864"/>
            <a:ext cx="2103120" cy="658368"/>
          </a:xfrm>
          <a:prstGeom prst="rect">
            <a:avLst/>
          </a:prstGeom>
          <a:noFill/>
          <a:ln/>
        </p:spPr>
        <p:txBody>
          <a:bodyPr wrap="square" lIns="0" tIns="0" rIns="0" bIns="0" rtlCol="0" anchor="ctr"/>
          <a:lstStyle/>
          <a:p>
            <a:pPr indent="0" marL="0">
              <a:buNone/>
            </a:pPr>
            <a:r>
              <a:rPr lang="en-US" sz="3400" b="1" dirty="0">
                <a:solidFill>
                  <a:srgbClr val="1E3D2F"/>
                </a:solidFill>
                <a:latin typeface="Cambria" pitchFamily="34" charset="0"/>
                <a:ea typeface="Cambria" pitchFamily="34" charset="-122"/>
                <a:cs typeface="Cambria" pitchFamily="34" charset="-120"/>
              </a:rPr>
              <a:t>₹76.7cr</a:t>
            </a:r>
            <a:endParaRPr lang="en-US" sz="3400" dirty="0"/>
          </a:p>
        </p:txBody>
      </p:sp>
      <p:sp>
        <p:nvSpPr>
          <p:cNvPr id="7" name="Text 5"/>
          <p:cNvSpPr/>
          <p:nvPr/>
        </p:nvSpPr>
        <p:spPr>
          <a:xfrm>
            <a:off x="713232" y="3017520"/>
            <a:ext cx="2103120" cy="274320"/>
          </a:xfrm>
          <a:prstGeom prst="rect">
            <a:avLst/>
          </a:prstGeom>
          <a:noFill/>
          <a:ln/>
        </p:spPr>
        <p:txBody>
          <a:bodyPr wrap="square" lIns="0" tIns="0" rIns="0" bIns="0" rtlCol="0" anchor="ctr"/>
          <a:lstStyle/>
          <a:p>
            <a:pPr indent="0" marL="0">
              <a:buNone/>
            </a:pPr>
            <a:r>
              <a:rPr lang="en-US" sz="1200" b="1" dirty="0">
                <a:solidFill>
                  <a:srgbClr val="22282B"/>
                </a:solidFill>
                <a:latin typeface="Calibri" pitchFamily="34" charset="0"/>
                <a:ea typeface="Calibri" pitchFamily="34" charset="-122"/>
                <a:cs typeface="Calibri" pitchFamily="34" charset="-120"/>
              </a:rPr>
              <a:t>FY25 revenue</a:t>
            </a:r>
            <a:endParaRPr lang="en-US" sz="1200" dirty="0"/>
          </a:p>
        </p:txBody>
      </p:sp>
      <p:sp>
        <p:nvSpPr>
          <p:cNvPr id="8" name="Text 6"/>
          <p:cNvSpPr/>
          <p:nvPr/>
        </p:nvSpPr>
        <p:spPr>
          <a:xfrm>
            <a:off x="713232" y="3291840"/>
            <a:ext cx="2103120" cy="210312"/>
          </a:xfrm>
          <a:prstGeom prst="rect">
            <a:avLst/>
          </a:prstGeom>
          <a:noFill/>
          <a:ln/>
        </p:spPr>
        <p:txBody>
          <a:bodyPr wrap="square" lIns="0" tIns="0" rIns="0" bIns="0" rtlCol="0" anchor="t"/>
          <a:lstStyle/>
          <a:p>
            <a:pPr indent="0" marL="0">
              <a:buNone/>
            </a:pPr>
            <a:r>
              <a:rPr lang="en-US" sz="1000" dirty="0">
                <a:solidFill>
                  <a:srgbClr val="6B7671"/>
                </a:solidFill>
                <a:latin typeface="Calibri" pitchFamily="34" charset="0"/>
                <a:ea typeface="Calibri" pitchFamily="34" charset="-122"/>
                <a:cs typeface="Calibri" pitchFamily="34" charset="-120"/>
              </a:rPr>
              <a:t>Disclosed, T1</a:t>
            </a:r>
            <a:endParaRPr lang="en-US" sz="1000" dirty="0"/>
          </a:p>
        </p:txBody>
      </p:sp>
      <p:sp>
        <p:nvSpPr>
          <p:cNvPr id="9" name="Shape 7"/>
          <p:cNvSpPr/>
          <p:nvPr/>
        </p:nvSpPr>
        <p:spPr>
          <a:xfrm>
            <a:off x="3236976" y="2194560"/>
            <a:ext cx="2432304" cy="1417320"/>
          </a:xfrm>
          <a:prstGeom prst="roundRect">
            <a:avLst>
              <a:gd name="adj" fmla="val 3871"/>
            </a:avLst>
          </a:prstGeom>
          <a:solidFill>
            <a:srgbClr val="F7F5F0"/>
          </a:solidFill>
          <a:ln w="9525">
            <a:solidFill>
              <a:srgbClr val="C3D6C8"/>
            </a:solidFill>
            <a:prstDash val="solid"/>
          </a:ln>
        </p:spPr>
      </p:sp>
      <p:sp>
        <p:nvSpPr>
          <p:cNvPr id="10" name="Text 8"/>
          <p:cNvSpPr/>
          <p:nvPr/>
        </p:nvSpPr>
        <p:spPr>
          <a:xfrm>
            <a:off x="3401568" y="2340864"/>
            <a:ext cx="2103120" cy="658368"/>
          </a:xfrm>
          <a:prstGeom prst="rect">
            <a:avLst/>
          </a:prstGeom>
          <a:noFill/>
          <a:ln/>
        </p:spPr>
        <p:txBody>
          <a:bodyPr wrap="square" lIns="0" tIns="0" rIns="0" bIns="0" rtlCol="0" anchor="ctr"/>
          <a:lstStyle/>
          <a:p>
            <a:pPr indent="0" marL="0">
              <a:buNone/>
            </a:pPr>
            <a:r>
              <a:rPr lang="en-US" sz="3400" b="1" dirty="0">
                <a:solidFill>
                  <a:srgbClr val="1E3D2F"/>
                </a:solidFill>
                <a:latin typeface="Cambria" pitchFamily="34" charset="0"/>
                <a:ea typeface="Cambria" pitchFamily="34" charset="-122"/>
                <a:cs typeface="Cambria" pitchFamily="34" charset="-120"/>
              </a:rPr>
              <a:t>97</a:t>
            </a:r>
            <a:endParaRPr lang="en-US" sz="3400" dirty="0"/>
          </a:p>
        </p:txBody>
      </p:sp>
      <p:sp>
        <p:nvSpPr>
          <p:cNvPr id="11" name="Text 9"/>
          <p:cNvSpPr/>
          <p:nvPr/>
        </p:nvSpPr>
        <p:spPr>
          <a:xfrm>
            <a:off x="3401568" y="3017520"/>
            <a:ext cx="2103120" cy="274320"/>
          </a:xfrm>
          <a:prstGeom prst="rect">
            <a:avLst/>
          </a:prstGeom>
          <a:noFill/>
          <a:ln/>
        </p:spPr>
        <p:txBody>
          <a:bodyPr wrap="square" lIns="0" tIns="0" rIns="0" bIns="0" rtlCol="0" anchor="ctr"/>
          <a:lstStyle/>
          <a:p>
            <a:pPr indent="0" marL="0">
              <a:buNone/>
            </a:pPr>
            <a:r>
              <a:rPr lang="en-US" sz="1200" b="1" dirty="0">
                <a:solidFill>
                  <a:srgbClr val="22282B"/>
                </a:solidFill>
                <a:latin typeface="Calibri" pitchFamily="34" charset="0"/>
                <a:ea typeface="Calibri" pitchFamily="34" charset="-122"/>
                <a:cs typeface="Calibri" pitchFamily="34" charset="-120"/>
              </a:rPr>
              <a:t>Keys on 36 acres</a:t>
            </a:r>
            <a:endParaRPr lang="en-US" sz="1200" dirty="0"/>
          </a:p>
        </p:txBody>
      </p:sp>
      <p:sp>
        <p:nvSpPr>
          <p:cNvPr id="12" name="Text 10"/>
          <p:cNvSpPr/>
          <p:nvPr/>
        </p:nvSpPr>
        <p:spPr>
          <a:xfrm>
            <a:off x="3401568" y="3291840"/>
            <a:ext cx="2103120" cy="210312"/>
          </a:xfrm>
          <a:prstGeom prst="rect">
            <a:avLst/>
          </a:prstGeom>
          <a:noFill/>
          <a:ln/>
        </p:spPr>
        <p:txBody>
          <a:bodyPr wrap="square" lIns="0" tIns="0" rIns="0" bIns="0" rtlCol="0" anchor="t"/>
          <a:lstStyle/>
          <a:p>
            <a:pPr indent="0" marL="0">
              <a:buNone/>
            </a:pPr>
            <a:r>
              <a:rPr lang="en-US" sz="1000" dirty="0">
                <a:solidFill>
                  <a:srgbClr val="6B7671"/>
                </a:solidFill>
                <a:latin typeface="Calibri" pitchFamily="34" charset="0"/>
                <a:ea typeface="Calibri" pitchFamily="34" charset="-122"/>
                <a:cs typeface="Calibri" pitchFamily="34" charset="-120"/>
              </a:rPr>
              <a:t>Published, T1</a:t>
            </a:r>
            <a:endParaRPr lang="en-US" sz="1000" dirty="0"/>
          </a:p>
        </p:txBody>
      </p:sp>
      <p:sp>
        <p:nvSpPr>
          <p:cNvPr id="13" name="Shape 11"/>
          <p:cNvSpPr/>
          <p:nvPr/>
        </p:nvSpPr>
        <p:spPr>
          <a:xfrm>
            <a:off x="5925312" y="2194560"/>
            <a:ext cx="2432304" cy="1417320"/>
          </a:xfrm>
          <a:prstGeom prst="roundRect">
            <a:avLst>
              <a:gd name="adj" fmla="val 3871"/>
            </a:avLst>
          </a:prstGeom>
          <a:solidFill>
            <a:srgbClr val="F7F5F0"/>
          </a:solidFill>
          <a:ln w="9525">
            <a:solidFill>
              <a:srgbClr val="C3D6C8"/>
            </a:solidFill>
            <a:prstDash val="solid"/>
          </a:ln>
        </p:spPr>
      </p:sp>
      <p:sp>
        <p:nvSpPr>
          <p:cNvPr id="14" name="Text 12"/>
          <p:cNvSpPr/>
          <p:nvPr/>
        </p:nvSpPr>
        <p:spPr>
          <a:xfrm>
            <a:off x="6089904" y="2340864"/>
            <a:ext cx="2103120" cy="658368"/>
          </a:xfrm>
          <a:prstGeom prst="rect">
            <a:avLst/>
          </a:prstGeom>
          <a:noFill/>
          <a:ln/>
        </p:spPr>
        <p:txBody>
          <a:bodyPr wrap="square" lIns="0" tIns="0" rIns="0" bIns="0" rtlCol="0" anchor="ctr"/>
          <a:lstStyle/>
          <a:p>
            <a:pPr indent="0" marL="0">
              <a:buNone/>
            </a:pPr>
            <a:r>
              <a:rPr lang="en-US" sz="3400" b="1" dirty="0">
                <a:solidFill>
                  <a:srgbClr val="C9A227"/>
                </a:solidFill>
                <a:latin typeface="Cambria" pitchFamily="34" charset="0"/>
                <a:ea typeface="Cambria" pitchFamily="34" charset="-122"/>
                <a:cs typeface="Cambria" pitchFamily="34" charset="-120"/>
              </a:rPr>
              <a:t>₹79L</a:t>
            </a:r>
            <a:endParaRPr lang="en-US" sz="3400" dirty="0"/>
          </a:p>
        </p:txBody>
      </p:sp>
      <p:sp>
        <p:nvSpPr>
          <p:cNvPr id="15" name="Text 13"/>
          <p:cNvSpPr/>
          <p:nvPr/>
        </p:nvSpPr>
        <p:spPr>
          <a:xfrm>
            <a:off x="6089904" y="3017520"/>
            <a:ext cx="2103120" cy="274320"/>
          </a:xfrm>
          <a:prstGeom prst="rect">
            <a:avLst/>
          </a:prstGeom>
          <a:noFill/>
          <a:ln/>
        </p:spPr>
        <p:txBody>
          <a:bodyPr wrap="square" lIns="0" tIns="0" rIns="0" bIns="0" rtlCol="0" anchor="ctr"/>
          <a:lstStyle/>
          <a:p>
            <a:pPr indent="0" marL="0">
              <a:buNone/>
            </a:pPr>
            <a:r>
              <a:rPr lang="en-US" sz="1200" b="1" dirty="0">
                <a:solidFill>
                  <a:srgbClr val="22282B"/>
                </a:solidFill>
                <a:latin typeface="Calibri" pitchFamily="34" charset="0"/>
                <a:ea typeface="Calibri" pitchFamily="34" charset="-122"/>
                <a:cs typeface="Calibri" pitchFamily="34" charset="-120"/>
              </a:rPr>
              <a:t>Revenue per key</a:t>
            </a:r>
            <a:endParaRPr lang="en-US" sz="1200" dirty="0"/>
          </a:p>
        </p:txBody>
      </p:sp>
      <p:sp>
        <p:nvSpPr>
          <p:cNvPr id="16" name="Text 14"/>
          <p:cNvSpPr/>
          <p:nvPr/>
        </p:nvSpPr>
        <p:spPr>
          <a:xfrm>
            <a:off x="6089904" y="3291840"/>
            <a:ext cx="2103120" cy="210312"/>
          </a:xfrm>
          <a:prstGeom prst="rect">
            <a:avLst/>
          </a:prstGeom>
          <a:noFill/>
          <a:ln/>
        </p:spPr>
        <p:txBody>
          <a:bodyPr wrap="square" lIns="0" tIns="0" rIns="0" bIns="0" rtlCol="0" anchor="t"/>
          <a:lstStyle/>
          <a:p>
            <a:pPr indent="0" marL="0">
              <a:buNone/>
            </a:pPr>
            <a:r>
              <a:rPr lang="en-US" sz="1000" dirty="0">
                <a:solidFill>
                  <a:srgbClr val="6B7671"/>
                </a:solidFill>
                <a:latin typeface="Calibri" pitchFamily="34" charset="0"/>
                <a:ea typeface="Calibri" pitchFamily="34" charset="-122"/>
                <a:cs typeface="Calibri" pitchFamily="34" charset="-120"/>
              </a:rPr>
              <a:t>Derived</a:t>
            </a:r>
            <a:endParaRPr lang="en-US" sz="1000" dirty="0"/>
          </a:p>
        </p:txBody>
      </p:sp>
      <p:sp>
        <p:nvSpPr>
          <p:cNvPr id="17" name="Shape 15"/>
          <p:cNvSpPr/>
          <p:nvPr/>
        </p:nvSpPr>
        <p:spPr>
          <a:xfrm>
            <a:off x="8613648" y="2194560"/>
            <a:ext cx="2359152" cy="1417320"/>
          </a:xfrm>
          <a:prstGeom prst="roundRect">
            <a:avLst>
              <a:gd name="adj" fmla="val 3871"/>
            </a:avLst>
          </a:prstGeom>
          <a:solidFill>
            <a:srgbClr val="F7F5F0"/>
          </a:solidFill>
          <a:ln w="9525">
            <a:solidFill>
              <a:srgbClr val="C3D6C8"/>
            </a:solidFill>
            <a:prstDash val="solid"/>
          </a:ln>
        </p:spPr>
      </p:sp>
      <p:sp>
        <p:nvSpPr>
          <p:cNvPr id="18" name="Text 16"/>
          <p:cNvSpPr/>
          <p:nvPr/>
        </p:nvSpPr>
        <p:spPr>
          <a:xfrm>
            <a:off x="8778240" y="2340864"/>
            <a:ext cx="2029968" cy="658368"/>
          </a:xfrm>
          <a:prstGeom prst="rect">
            <a:avLst/>
          </a:prstGeom>
          <a:noFill/>
          <a:ln/>
        </p:spPr>
        <p:txBody>
          <a:bodyPr wrap="square" lIns="0" tIns="0" rIns="0" bIns="0" rtlCol="0" anchor="ctr"/>
          <a:lstStyle/>
          <a:p>
            <a:pPr indent="0" marL="0">
              <a:buNone/>
            </a:pPr>
            <a:r>
              <a:rPr lang="en-US" sz="3400" b="1" dirty="0">
                <a:solidFill>
                  <a:srgbClr val="C9A227"/>
                </a:solidFill>
                <a:latin typeface="Cambria" pitchFamily="34" charset="0"/>
                <a:ea typeface="Cambria" pitchFamily="34" charset="-122"/>
                <a:cs typeface="Cambria" pitchFamily="34" charset="-120"/>
              </a:rPr>
              <a:t>5.4x</a:t>
            </a:r>
            <a:endParaRPr lang="en-US" sz="3400" dirty="0"/>
          </a:p>
        </p:txBody>
      </p:sp>
      <p:sp>
        <p:nvSpPr>
          <p:cNvPr id="19" name="Text 17"/>
          <p:cNvSpPr/>
          <p:nvPr/>
        </p:nvSpPr>
        <p:spPr>
          <a:xfrm>
            <a:off x="8778240" y="3017520"/>
            <a:ext cx="2029968" cy="274320"/>
          </a:xfrm>
          <a:prstGeom prst="rect">
            <a:avLst/>
          </a:prstGeom>
          <a:noFill/>
          <a:ln/>
        </p:spPr>
        <p:txBody>
          <a:bodyPr wrap="square" lIns="0" tIns="0" rIns="0" bIns="0" rtlCol="0" anchor="ctr"/>
          <a:lstStyle/>
          <a:p>
            <a:pPr indent="0" marL="0">
              <a:buNone/>
            </a:pPr>
            <a:r>
              <a:rPr lang="en-US" sz="1200" b="1" dirty="0">
                <a:solidFill>
                  <a:srgbClr val="22282B"/>
                </a:solidFill>
                <a:latin typeface="Calibri" pitchFamily="34" charset="0"/>
                <a:ea typeface="Calibri" pitchFamily="34" charset="-122"/>
                <a:cs typeface="Calibri" pitchFamily="34" charset="-120"/>
              </a:rPr>
              <a:t>EV / revenue</a:t>
            </a:r>
            <a:endParaRPr lang="en-US" sz="1200" dirty="0"/>
          </a:p>
        </p:txBody>
      </p:sp>
      <p:sp>
        <p:nvSpPr>
          <p:cNvPr id="20" name="Text 18"/>
          <p:cNvSpPr/>
          <p:nvPr/>
        </p:nvSpPr>
        <p:spPr>
          <a:xfrm>
            <a:off x="8778240" y="3291840"/>
            <a:ext cx="2029968" cy="210312"/>
          </a:xfrm>
          <a:prstGeom prst="rect">
            <a:avLst/>
          </a:prstGeom>
          <a:noFill/>
          <a:ln/>
        </p:spPr>
        <p:txBody>
          <a:bodyPr wrap="square" lIns="0" tIns="0" rIns="0" bIns="0" rtlCol="0" anchor="t"/>
          <a:lstStyle/>
          <a:p>
            <a:pPr indent="0" marL="0">
              <a:buNone/>
            </a:pPr>
            <a:r>
              <a:rPr lang="en-US" sz="1000" dirty="0">
                <a:solidFill>
                  <a:srgbClr val="6B7671"/>
                </a:solidFill>
                <a:latin typeface="Calibri" pitchFamily="34" charset="0"/>
                <a:ea typeface="Calibri" pitchFamily="34" charset="-122"/>
                <a:cs typeface="Calibri" pitchFamily="34" charset="-120"/>
              </a:rPr>
              <a:t>₹415cr EV</a:t>
            </a:r>
            <a:endParaRPr lang="en-US" sz="1000" dirty="0"/>
          </a:p>
        </p:txBody>
      </p:sp>
      <p:sp>
        <p:nvSpPr>
          <p:cNvPr id="21" name="Shape 19"/>
          <p:cNvSpPr/>
          <p:nvPr/>
        </p:nvSpPr>
        <p:spPr>
          <a:xfrm>
            <a:off x="548640" y="3886200"/>
            <a:ext cx="10424160" cy="1874520"/>
          </a:xfrm>
          <a:prstGeom prst="roundRect">
            <a:avLst>
              <a:gd name="adj" fmla="val 2927"/>
            </a:avLst>
          </a:prstGeom>
          <a:solidFill>
            <a:srgbClr val="EDF2EA"/>
          </a:solidFill>
          <a:ln w="9525">
            <a:solidFill>
              <a:srgbClr val="C3D6C8"/>
            </a:solidFill>
            <a:prstDash val="solid"/>
          </a:ln>
        </p:spPr>
      </p:sp>
      <p:sp>
        <p:nvSpPr>
          <p:cNvPr id="22" name="Text 20"/>
          <p:cNvSpPr/>
          <p:nvPr/>
        </p:nvSpPr>
        <p:spPr>
          <a:xfrm>
            <a:off x="822960" y="4041648"/>
            <a:ext cx="9875520" cy="292608"/>
          </a:xfrm>
          <a:prstGeom prst="rect">
            <a:avLst/>
          </a:prstGeom>
          <a:noFill/>
          <a:ln/>
        </p:spPr>
        <p:txBody>
          <a:bodyPr wrap="square" lIns="0" tIns="0" rIns="0" bIns="0" rtlCol="0" anchor="ctr"/>
          <a:lstStyle/>
          <a:p>
            <a:pPr indent="0" marL="0">
              <a:buNone/>
            </a:pPr>
            <a:r>
              <a:rPr lang="en-US" sz="1500" b="1" dirty="0">
                <a:solidFill>
                  <a:srgbClr val="1E3D2F"/>
                </a:solidFill>
                <a:latin typeface="Calibri" pitchFamily="34" charset="0"/>
                <a:ea typeface="Calibri" pitchFamily="34" charset="-122"/>
                <a:cs typeface="Calibri" pitchFamily="34" charset="-120"/>
              </a:rPr>
              <a:t>The back-solve — why this validates the method</a:t>
            </a:r>
            <a:endParaRPr lang="en-US" sz="1500" dirty="0"/>
          </a:p>
        </p:txBody>
      </p:sp>
      <p:sp>
        <p:nvSpPr>
          <p:cNvPr id="23" name="Text 21"/>
          <p:cNvSpPr/>
          <p:nvPr/>
        </p:nvSpPr>
        <p:spPr>
          <a:xfrm>
            <a:off x="822960" y="4407408"/>
            <a:ext cx="9875520" cy="329184"/>
          </a:xfrm>
          <a:prstGeom prst="rect">
            <a:avLst/>
          </a:prstGeom>
          <a:noFill/>
          <a:ln/>
        </p:spPr>
        <p:txBody>
          <a:bodyPr wrap="square" lIns="0" tIns="0" rIns="0" bIns="0" rtlCol="0" anchor="ctr"/>
          <a:lstStyle/>
          <a:p>
            <a:pPr indent="0" marL="0">
              <a:buNone/>
            </a:pPr>
            <a:r>
              <a:rPr lang="en-US" sz="1300" b="1" dirty="0">
                <a:solidFill>
                  <a:srgbClr val="22282B"/>
                </a:solidFill>
                <a:latin typeface="Courier New" pitchFamily="34" charset="0"/>
                <a:ea typeface="Courier New" pitchFamily="34" charset="-122"/>
                <a:cs typeface="Courier New" pitchFamily="34" charset="-120"/>
              </a:rPr>
              <a:t>₹76.7 cr ÷ (97 keys × 365 nights × 65% occupancy)  =  ~₹33,000 per occupied room-night</a:t>
            </a:r>
            <a:endParaRPr lang="en-US" sz="1300" dirty="0"/>
          </a:p>
        </p:txBody>
      </p:sp>
      <p:sp>
        <p:nvSpPr>
          <p:cNvPr id="24" name="Text 22"/>
          <p:cNvSpPr/>
          <p:nvPr/>
        </p:nvSpPr>
        <p:spPr>
          <a:xfrm>
            <a:off x="822960" y="4846320"/>
            <a:ext cx="9875520" cy="822960"/>
          </a:xfrm>
          <a:prstGeom prst="rect">
            <a:avLst/>
          </a:prstGeom>
          <a:noFill/>
          <a:ln/>
        </p:spPr>
        <p:txBody>
          <a:bodyPr wrap="square" lIns="0" tIns="0" rIns="0" bIns="0" rtlCol="0" anchor="t"/>
          <a:lstStyle/>
          <a:p>
            <a:pPr indent="0" marL="0">
              <a:buNone/>
            </a:pPr>
            <a:r>
              <a:rPr lang="en-US" sz="1200" dirty="0">
                <a:solidFill>
                  <a:srgbClr val="22282B"/>
                </a:solidFill>
                <a:latin typeface="Calibri" pitchFamily="34" charset="0"/>
                <a:ea typeface="Calibri" pitchFamily="34" charset="-122"/>
                <a:cs typeface="Calibri" pitchFamily="34" charset="-120"/>
              </a:rPr>
              <a:t>That figure sits squarely inside Atmantan's published all-inclusive programme pricing. The model reproduces a known answer from independent inputs — the strongest validation available without filings for the rest of the panel. Every other revenue estimate inherits this method, and must be read with a wider band, because none of them have this check.</a:t>
            </a:r>
            <a:endParaRPr lang="en-US" sz="1200" dirty="0"/>
          </a:p>
        </p:txBody>
      </p:sp>
      <p:sp>
        <p:nvSpPr>
          <p:cNvPr id="25" name="Text 23"/>
          <p:cNvSpPr/>
          <p:nvPr/>
        </p:nvSpPr>
        <p:spPr>
          <a:xfrm>
            <a:off x="548640" y="6382512"/>
            <a:ext cx="11064240" cy="310896"/>
          </a:xfrm>
          <a:prstGeom prst="rect">
            <a:avLst/>
          </a:prstGeom>
          <a:noFill/>
          <a:ln/>
        </p:spPr>
        <p:txBody>
          <a:bodyPr wrap="square" lIns="0" tIns="0" rIns="0" bIns="0" rtlCol="0" anchor="ctr"/>
          <a:lstStyle/>
          <a:p>
            <a:pPr indent="0" marL="0">
              <a:buNone/>
            </a:pPr>
            <a:r>
              <a:rPr lang="en-US" sz="900" i="1" dirty="0">
                <a:solidFill>
                  <a:srgbClr val="6B7671"/>
                </a:solidFill>
                <a:latin typeface="Calibri" pitchFamily="34" charset="0"/>
                <a:ea typeface="Calibri" pitchFamily="34" charset="-122"/>
                <a:cs typeface="Calibri" pitchFamily="34" charset="-120"/>
              </a:rPr>
              <a:t>Occupancy of 65% is a T4 assumption for the luxury archetype and is the single largest driver of every revenue estimate in the workbook.</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1064240" cy="237744"/>
          </a:xfrm>
          <a:prstGeom prst="rect">
            <a:avLst/>
          </a:prstGeom>
          <a:noFill/>
          <a:ln/>
        </p:spPr>
        <p:txBody>
          <a:bodyPr wrap="square" lIns="0" tIns="0" rIns="0" bIns="0" rtlCol="0" anchor="ctr"/>
          <a:lstStyle/>
          <a:p>
            <a:pPr indent="0" marL="0">
              <a:buNone/>
            </a:pPr>
            <a:r>
              <a:rPr lang="en-US" sz="1100" b="1" spc="200" kern="0" dirty="0">
                <a:solidFill>
                  <a:srgbClr val="7FA88B"/>
                </a:solidFill>
                <a:latin typeface="Calibri" pitchFamily="34" charset="0"/>
                <a:ea typeface="Calibri" pitchFamily="34" charset="-122"/>
                <a:cs typeface="Calibri" pitchFamily="34" charset="-120"/>
              </a:rPr>
              <a:t>METHOD — THE KEY TRAP</a:t>
            </a:r>
            <a:endParaRPr lang="en-US" sz="11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200" b="1" dirty="0">
                <a:solidFill>
                  <a:srgbClr val="1E3D2F"/>
                </a:solidFill>
                <a:latin typeface="Cambria" pitchFamily="34" charset="0"/>
                <a:ea typeface="Cambria" pitchFamily="34" charset="-122"/>
                <a:cs typeface="Cambria" pitchFamily="34" charset="-120"/>
              </a:rPr>
              <a:t>Room rate is not comparable across this panel</a:t>
            </a:r>
            <a:endParaRPr lang="en-US" sz="3200" dirty="0"/>
          </a:p>
        </p:txBody>
      </p:sp>
      <p:sp>
        <p:nvSpPr>
          <p:cNvPr id="4" name="Text 2"/>
          <p:cNvSpPr/>
          <p:nvPr/>
        </p:nvSpPr>
        <p:spPr>
          <a:xfrm>
            <a:off x="548640" y="1481328"/>
            <a:ext cx="10424160" cy="502920"/>
          </a:xfrm>
          <a:prstGeom prst="rect">
            <a:avLst/>
          </a:prstGeom>
          <a:noFill/>
          <a:ln/>
        </p:spPr>
        <p:txBody>
          <a:bodyPr wrap="square" lIns="0" tIns="0" rIns="0" bIns="0" rtlCol="0" anchor="ctr"/>
          <a:lstStyle/>
          <a:p>
            <a:pPr indent="0" marL="0">
              <a:buNone/>
            </a:pPr>
            <a:r>
              <a:rPr lang="en-US" sz="1500" dirty="0">
                <a:solidFill>
                  <a:srgbClr val="22282B"/>
                </a:solidFill>
                <a:latin typeface="Calibri" pitchFamily="34" charset="0"/>
                <a:ea typeface="Calibri" pitchFamily="34" charset="-122"/>
                <a:cs typeface="Calibri" pitchFamily="34" charset="-120"/>
              </a:rPr>
              <a:t>Two properties in the panel sell fundamentally different things. Comparing them on room ADR produces nonsense — so every comparison here runs on total revenue per occupied room-night.</a:t>
            </a:r>
            <a:endParaRPr lang="en-US" sz="1500" dirty="0"/>
          </a:p>
        </p:txBody>
      </p:sp>
      <p:sp>
        <p:nvSpPr>
          <p:cNvPr id="5" name="Shape 3"/>
          <p:cNvSpPr/>
          <p:nvPr/>
        </p:nvSpPr>
        <p:spPr>
          <a:xfrm>
            <a:off x="548640" y="2194560"/>
            <a:ext cx="5029200" cy="2514600"/>
          </a:xfrm>
          <a:prstGeom prst="roundRect">
            <a:avLst>
              <a:gd name="adj" fmla="val 2182"/>
            </a:avLst>
          </a:prstGeom>
          <a:solidFill>
            <a:srgbClr val="F7F5F0"/>
          </a:solidFill>
          <a:ln w="9525">
            <a:solidFill>
              <a:srgbClr val="C3D6C8"/>
            </a:solidFill>
            <a:prstDash val="solid"/>
          </a:ln>
        </p:spPr>
      </p:sp>
      <p:sp>
        <p:nvSpPr>
          <p:cNvPr id="6" name="Text 4"/>
          <p:cNvSpPr/>
          <p:nvPr/>
        </p:nvSpPr>
        <p:spPr>
          <a:xfrm>
            <a:off x="804672" y="2340864"/>
            <a:ext cx="4572000" cy="256032"/>
          </a:xfrm>
          <a:prstGeom prst="rect">
            <a:avLst/>
          </a:prstGeom>
          <a:noFill/>
          <a:ln/>
        </p:spPr>
        <p:txBody>
          <a:bodyPr wrap="square" lIns="0" tIns="0" rIns="0" bIns="0" rtlCol="0" anchor="ctr"/>
          <a:lstStyle/>
          <a:p>
            <a:pPr indent="0" marL="0">
              <a:buNone/>
            </a:pPr>
            <a:r>
              <a:rPr lang="en-US" sz="1100" b="1" spc="200" kern="0" dirty="0">
                <a:solidFill>
                  <a:srgbClr val="A63A2E"/>
                </a:solidFill>
                <a:latin typeface="Calibri" pitchFamily="34" charset="0"/>
                <a:ea typeface="Calibri" pitchFamily="34" charset="-122"/>
                <a:cs typeface="Calibri" pitchFamily="34" charset="-120"/>
              </a:rPr>
              <a:t>UNBUNDLED</a:t>
            </a:r>
            <a:endParaRPr lang="en-US" sz="1100" dirty="0"/>
          </a:p>
        </p:txBody>
      </p:sp>
      <p:sp>
        <p:nvSpPr>
          <p:cNvPr id="7" name="Text 5"/>
          <p:cNvSpPr/>
          <p:nvPr/>
        </p:nvSpPr>
        <p:spPr>
          <a:xfrm>
            <a:off x="804672" y="2596896"/>
            <a:ext cx="4572000" cy="329184"/>
          </a:xfrm>
          <a:prstGeom prst="rect">
            <a:avLst/>
          </a:prstGeom>
          <a:noFill/>
          <a:ln/>
        </p:spPr>
        <p:txBody>
          <a:bodyPr wrap="square" lIns="0" tIns="0" rIns="0" bIns="0" rtlCol="0" anchor="ctr"/>
          <a:lstStyle/>
          <a:p>
            <a:pPr indent="0" marL="0">
              <a:buNone/>
            </a:pPr>
            <a:r>
              <a:rPr lang="en-US" sz="1900" b="1" dirty="0">
                <a:solidFill>
                  <a:srgbClr val="1E3D2F"/>
                </a:solidFill>
                <a:latin typeface="Cambria" pitchFamily="34" charset="0"/>
                <a:ea typeface="Cambria" pitchFamily="34" charset="-122"/>
                <a:cs typeface="Cambria" pitchFamily="34" charset="-120"/>
              </a:rPr>
              <a:t>Jindal Naturecure</a:t>
            </a:r>
            <a:endParaRPr lang="en-US" sz="1900" dirty="0"/>
          </a:p>
        </p:txBody>
      </p:sp>
      <p:sp>
        <p:nvSpPr>
          <p:cNvPr id="8" name="Text 6"/>
          <p:cNvSpPr/>
          <p:nvPr/>
        </p:nvSpPr>
        <p:spPr>
          <a:xfrm>
            <a:off x="804672" y="3017520"/>
            <a:ext cx="4572000" cy="105156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22282B"/>
                </a:solidFill>
                <a:latin typeface="Calibri" pitchFamily="34" charset="0"/>
                <a:ea typeface="Calibri" pitchFamily="34" charset="-122"/>
                <a:cs typeface="Calibri" pitchFamily="34" charset="-120"/>
              </a:rPr>
              <a:t>Room  ₹6,000 single / ₹9,000 double</a:t>
            </a:r>
            <a:endParaRPr lang="en-US" sz="1200" dirty="0"/>
          </a:p>
          <a:p>
            <a:pPr marL="342900" indent="-342900">
              <a:spcAft>
                <a:spcPts val="500"/>
              </a:spcAft>
              <a:buSzPct val="100000"/>
              <a:buChar char="•"/>
            </a:pPr>
            <a:r>
              <a:rPr lang="en-US" sz="1200" dirty="0">
                <a:solidFill>
                  <a:srgbClr val="22282B"/>
                </a:solidFill>
                <a:latin typeface="Calibri" pitchFamily="34" charset="0"/>
                <a:ea typeface="Calibri" pitchFamily="34" charset="-122"/>
                <a:cs typeface="Calibri" pitchFamily="34" charset="-120"/>
              </a:rPr>
              <a:t>Treatment  ₹2,000–3,000 per day, charged separately</a:t>
            </a:r>
            <a:endParaRPr lang="en-US" sz="1200" dirty="0"/>
          </a:p>
          <a:p>
            <a:pPr marL="342900" indent="-342900">
              <a:spcAft>
                <a:spcPts val="500"/>
              </a:spcAft>
              <a:buSzPct val="100000"/>
              <a:buChar char="•"/>
            </a:pPr>
            <a:r>
              <a:rPr lang="en-US" sz="1200" dirty="0">
                <a:solidFill>
                  <a:srgbClr val="22282B"/>
                </a:solidFill>
                <a:latin typeface="Calibri" pitchFamily="34" charset="0"/>
                <a:ea typeface="Calibri" pitchFamily="34" charset="-122"/>
                <a:cs typeface="Calibri" pitchFamily="34" charset="-120"/>
              </a:rPr>
              <a:t>Diet and doctor consultation  included free</a:t>
            </a:r>
            <a:endParaRPr lang="en-US" sz="1200" dirty="0"/>
          </a:p>
        </p:txBody>
      </p:sp>
      <p:sp>
        <p:nvSpPr>
          <p:cNvPr id="9" name="Text 7"/>
          <p:cNvSpPr/>
          <p:nvPr/>
        </p:nvSpPr>
        <p:spPr>
          <a:xfrm>
            <a:off x="804672" y="4160520"/>
            <a:ext cx="4572000" cy="457200"/>
          </a:xfrm>
          <a:prstGeom prst="rect">
            <a:avLst/>
          </a:prstGeom>
          <a:noFill/>
          <a:ln/>
        </p:spPr>
        <p:txBody>
          <a:bodyPr wrap="square" lIns="0" tIns="0" rIns="0" bIns="0" rtlCol="0" anchor="ctr"/>
          <a:lstStyle/>
          <a:p>
            <a:pPr indent="0" marL="0">
              <a:buNone/>
            </a:pPr>
            <a:r>
              <a:rPr lang="en-US" sz="1150" i="1" dirty="0">
                <a:solidFill>
                  <a:srgbClr val="6B7671"/>
                </a:solidFill>
                <a:latin typeface="Calibri" pitchFamily="34" charset="0"/>
                <a:ea typeface="Calibri" pitchFamily="34" charset="-122"/>
                <a:cs typeface="Calibri" pitchFamily="34" charset="-120"/>
              </a:rPr>
              <a:t>Published room rate understates what a guest actually pays.</a:t>
            </a:r>
            <a:endParaRPr lang="en-US" sz="1150" dirty="0"/>
          </a:p>
        </p:txBody>
      </p:sp>
      <p:sp>
        <p:nvSpPr>
          <p:cNvPr id="10" name="Shape 8"/>
          <p:cNvSpPr/>
          <p:nvPr/>
        </p:nvSpPr>
        <p:spPr>
          <a:xfrm>
            <a:off x="5943600" y="2194560"/>
            <a:ext cx="5029200" cy="2514600"/>
          </a:xfrm>
          <a:prstGeom prst="roundRect">
            <a:avLst>
              <a:gd name="adj" fmla="val 2182"/>
            </a:avLst>
          </a:prstGeom>
          <a:solidFill>
            <a:srgbClr val="F7F5F0"/>
          </a:solidFill>
          <a:ln w="9525">
            <a:solidFill>
              <a:srgbClr val="C3D6C8"/>
            </a:solidFill>
            <a:prstDash val="solid"/>
          </a:ln>
        </p:spPr>
      </p:sp>
      <p:sp>
        <p:nvSpPr>
          <p:cNvPr id="11" name="Text 9"/>
          <p:cNvSpPr/>
          <p:nvPr/>
        </p:nvSpPr>
        <p:spPr>
          <a:xfrm>
            <a:off x="6199632" y="2340864"/>
            <a:ext cx="4572000" cy="256032"/>
          </a:xfrm>
          <a:prstGeom prst="rect">
            <a:avLst/>
          </a:prstGeom>
          <a:noFill/>
          <a:ln/>
        </p:spPr>
        <p:txBody>
          <a:bodyPr wrap="square" lIns="0" tIns="0" rIns="0" bIns="0" rtlCol="0" anchor="ctr"/>
          <a:lstStyle/>
          <a:p>
            <a:pPr indent="0" marL="0">
              <a:buNone/>
            </a:pPr>
            <a:r>
              <a:rPr lang="en-US" sz="1100" b="1" spc="200" kern="0" dirty="0">
                <a:solidFill>
                  <a:srgbClr val="7FA88B"/>
                </a:solidFill>
                <a:latin typeface="Calibri" pitchFamily="34" charset="0"/>
                <a:ea typeface="Calibri" pitchFamily="34" charset="-122"/>
                <a:cs typeface="Calibri" pitchFamily="34" charset="-120"/>
              </a:rPr>
              <a:t>BUNDLED PROGRAMME</a:t>
            </a:r>
            <a:endParaRPr lang="en-US" sz="1100" dirty="0"/>
          </a:p>
        </p:txBody>
      </p:sp>
      <p:sp>
        <p:nvSpPr>
          <p:cNvPr id="12" name="Text 10"/>
          <p:cNvSpPr/>
          <p:nvPr/>
        </p:nvSpPr>
        <p:spPr>
          <a:xfrm>
            <a:off x="6199632" y="2596896"/>
            <a:ext cx="4572000" cy="329184"/>
          </a:xfrm>
          <a:prstGeom prst="rect">
            <a:avLst/>
          </a:prstGeom>
          <a:noFill/>
          <a:ln/>
        </p:spPr>
        <p:txBody>
          <a:bodyPr wrap="square" lIns="0" tIns="0" rIns="0" bIns="0" rtlCol="0" anchor="ctr"/>
          <a:lstStyle/>
          <a:p>
            <a:pPr indent="0" marL="0">
              <a:buNone/>
            </a:pPr>
            <a:r>
              <a:rPr lang="en-US" sz="1900" b="1" dirty="0">
                <a:solidFill>
                  <a:srgbClr val="1E3D2F"/>
                </a:solidFill>
                <a:latin typeface="Cambria" pitchFamily="34" charset="0"/>
                <a:ea typeface="Cambria" pitchFamily="34" charset="-122"/>
                <a:cs typeface="Cambria" pitchFamily="34" charset="-120"/>
              </a:rPr>
              <a:t>Ananda · Vana · Atmantan</a:t>
            </a:r>
            <a:endParaRPr lang="en-US" sz="1900" dirty="0"/>
          </a:p>
        </p:txBody>
      </p:sp>
      <p:sp>
        <p:nvSpPr>
          <p:cNvPr id="13" name="Text 11"/>
          <p:cNvSpPr/>
          <p:nvPr/>
        </p:nvSpPr>
        <p:spPr>
          <a:xfrm>
            <a:off x="6199632" y="3017520"/>
            <a:ext cx="4572000" cy="1051560"/>
          </a:xfrm>
          <a:prstGeom prst="rect">
            <a:avLst/>
          </a:prstGeom>
          <a:noFill/>
          <a:ln/>
        </p:spPr>
        <p:txBody>
          <a:bodyPr wrap="square" lIns="0" tIns="0" rIns="0" bIns="0" rtlCol="0" anchor="ctr"/>
          <a:lstStyle/>
          <a:p>
            <a:pPr marL="342900" indent="-342900">
              <a:spcAft>
                <a:spcPts val="500"/>
              </a:spcAft>
              <a:buSzPct val="100000"/>
              <a:buChar char="•"/>
            </a:pPr>
            <a:r>
              <a:rPr lang="en-US" sz="1200" dirty="0">
                <a:solidFill>
                  <a:srgbClr val="22282B"/>
                </a:solidFill>
                <a:latin typeface="Calibri" pitchFamily="34" charset="0"/>
                <a:ea typeface="Calibri" pitchFamily="34" charset="-122"/>
                <a:cs typeface="Calibri" pitchFamily="34" charset="-120"/>
              </a:rPr>
              <a:t>One price covers room, treatments and consultations</a:t>
            </a:r>
            <a:endParaRPr lang="en-US" sz="1200" dirty="0"/>
          </a:p>
          <a:p>
            <a:pPr marL="342900" indent="-342900">
              <a:spcAft>
                <a:spcPts val="500"/>
              </a:spcAft>
              <a:buSzPct val="100000"/>
              <a:buChar char="•"/>
            </a:pPr>
            <a:r>
              <a:rPr lang="en-US" sz="1200" dirty="0">
                <a:solidFill>
                  <a:srgbClr val="22282B"/>
                </a:solidFill>
                <a:latin typeface="Calibri" pitchFamily="34" charset="0"/>
                <a:ea typeface="Calibri" pitchFamily="34" charset="-122"/>
                <a:cs typeface="Calibri" pitchFamily="34" charset="-120"/>
              </a:rPr>
              <a:t>Plus diet, activities and clothing</a:t>
            </a:r>
            <a:endParaRPr lang="en-US" sz="1200" dirty="0"/>
          </a:p>
          <a:p>
            <a:pPr marL="342900" indent="-342900">
              <a:spcAft>
                <a:spcPts val="500"/>
              </a:spcAft>
              <a:buSzPct val="100000"/>
              <a:buChar char="•"/>
            </a:pPr>
            <a:r>
              <a:rPr lang="en-US" sz="1200" dirty="0">
                <a:solidFill>
                  <a:srgbClr val="22282B"/>
                </a:solidFill>
                <a:latin typeface="Calibri" pitchFamily="34" charset="0"/>
                <a:ea typeface="Calibri" pitchFamily="34" charset="-122"/>
                <a:cs typeface="Calibri" pitchFamily="34" charset="-120"/>
              </a:rPr>
              <a:t>Minimum stays of 5–21 nights, sold as a programme</a:t>
            </a:r>
            <a:endParaRPr lang="en-US" sz="1200" dirty="0"/>
          </a:p>
        </p:txBody>
      </p:sp>
      <p:sp>
        <p:nvSpPr>
          <p:cNvPr id="14" name="Text 12"/>
          <p:cNvSpPr/>
          <p:nvPr/>
        </p:nvSpPr>
        <p:spPr>
          <a:xfrm>
            <a:off x="6199632" y="4160520"/>
            <a:ext cx="4572000" cy="457200"/>
          </a:xfrm>
          <a:prstGeom prst="rect">
            <a:avLst/>
          </a:prstGeom>
          <a:noFill/>
          <a:ln/>
        </p:spPr>
        <p:txBody>
          <a:bodyPr wrap="square" lIns="0" tIns="0" rIns="0" bIns="0" rtlCol="0" anchor="ctr"/>
          <a:lstStyle/>
          <a:p>
            <a:pPr indent="0" marL="0">
              <a:buNone/>
            </a:pPr>
            <a:r>
              <a:rPr lang="en-US" sz="1150" i="1" dirty="0">
                <a:solidFill>
                  <a:srgbClr val="6B7671"/>
                </a:solidFill>
                <a:latin typeface="Calibri" pitchFamily="34" charset="0"/>
                <a:ea typeface="Calibri" pitchFamily="34" charset="-122"/>
                <a:cs typeface="Calibri" pitchFamily="34" charset="-120"/>
              </a:rPr>
              <a:t>There is no separable 'room rate' to compare at all.</a:t>
            </a:r>
            <a:endParaRPr lang="en-US" sz="1150" dirty="0"/>
          </a:p>
        </p:txBody>
      </p:sp>
      <p:sp>
        <p:nvSpPr>
          <p:cNvPr id="15" name="Shape 13"/>
          <p:cNvSpPr/>
          <p:nvPr/>
        </p:nvSpPr>
        <p:spPr>
          <a:xfrm>
            <a:off x="548640" y="4937760"/>
            <a:ext cx="10424160" cy="868680"/>
          </a:xfrm>
          <a:prstGeom prst="roundRect">
            <a:avLst>
              <a:gd name="adj" fmla="val 6316"/>
            </a:avLst>
          </a:prstGeom>
          <a:solidFill>
            <a:srgbClr val="EDF2EA"/>
          </a:solidFill>
          <a:ln w="9525">
            <a:solidFill>
              <a:srgbClr val="C3D6C8"/>
            </a:solidFill>
            <a:prstDash val="solid"/>
          </a:ln>
        </p:spPr>
      </p:sp>
      <p:sp>
        <p:nvSpPr>
          <p:cNvPr id="16" name="Text 14"/>
          <p:cNvSpPr/>
          <p:nvPr/>
        </p:nvSpPr>
        <p:spPr>
          <a:xfrm>
            <a:off x="822960" y="5056632"/>
            <a:ext cx="9875520" cy="274320"/>
          </a:xfrm>
          <a:prstGeom prst="rect">
            <a:avLst/>
          </a:prstGeom>
          <a:noFill/>
          <a:ln/>
        </p:spPr>
        <p:txBody>
          <a:bodyPr wrap="square" lIns="0" tIns="0" rIns="0" bIns="0" rtlCol="0" anchor="ctr"/>
          <a:lstStyle/>
          <a:p>
            <a:pPr indent="0" marL="0">
              <a:buNone/>
            </a:pPr>
            <a:r>
              <a:rPr lang="en-US" sz="1400" b="1" dirty="0">
                <a:solidFill>
                  <a:srgbClr val="1E3D2F"/>
                </a:solidFill>
                <a:latin typeface="Calibri" pitchFamily="34" charset="0"/>
                <a:ea typeface="Calibri" pitchFamily="34" charset="-122"/>
                <a:cs typeface="Calibri" pitchFamily="34" charset="-120"/>
              </a:rPr>
              <a:t>The fix: Total Revenue per Occupied Room-Night (TROR)</a:t>
            </a:r>
            <a:endParaRPr lang="en-US" sz="1400" dirty="0"/>
          </a:p>
        </p:txBody>
      </p:sp>
      <p:sp>
        <p:nvSpPr>
          <p:cNvPr id="17" name="Text 15"/>
          <p:cNvSpPr/>
          <p:nvPr/>
        </p:nvSpPr>
        <p:spPr>
          <a:xfrm>
            <a:off x="822960" y="5349240"/>
            <a:ext cx="9875520" cy="384048"/>
          </a:xfrm>
          <a:prstGeom prst="rect">
            <a:avLst/>
          </a:prstGeom>
          <a:noFill/>
          <a:ln/>
        </p:spPr>
        <p:txBody>
          <a:bodyPr wrap="square" lIns="0" tIns="0" rIns="0" bIns="0" rtlCol="0" anchor="ctr"/>
          <a:lstStyle/>
          <a:p>
            <a:pPr indent="0" marL="0">
              <a:buNone/>
            </a:pPr>
            <a:r>
              <a:rPr lang="en-US" sz="1150" dirty="0">
                <a:solidFill>
                  <a:srgbClr val="22282B"/>
                </a:solidFill>
                <a:latin typeface="Calibri" pitchFamily="34" charset="0"/>
                <a:ea typeface="Calibri" pitchFamily="34" charset="-122"/>
                <a:cs typeface="Calibri" pitchFamily="34" charset="-120"/>
              </a:rPr>
              <a:t>All revenue from a guest ÷ nights stayed. Every property is normalised into this unit before any comparison is drawn — it is what makes a 24-property panel legitimate rather than decorative.</a:t>
            </a:r>
            <a:endParaRPr lang="en-US" sz="1150" dirty="0"/>
          </a:p>
        </p:txBody>
      </p:sp>
      <p:sp>
        <p:nvSpPr>
          <p:cNvPr id="18" name="Text 16"/>
          <p:cNvSpPr/>
          <p:nvPr/>
        </p:nvSpPr>
        <p:spPr>
          <a:xfrm>
            <a:off x="548640" y="6382512"/>
            <a:ext cx="11064240" cy="310896"/>
          </a:xfrm>
          <a:prstGeom prst="rect">
            <a:avLst/>
          </a:prstGeom>
          <a:noFill/>
          <a:ln/>
        </p:spPr>
        <p:txBody>
          <a:bodyPr wrap="square" lIns="0" tIns="0" rIns="0" bIns="0" rtlCol="0" anchor="ctr"/>
          <a:lstStyle/>
          <a:p>
            <a:pPr indent="0" marL="0">
              <a:buNone/>
            </a:pPr>
            <a:r>
              <a:rPr lang="en-US" sz="900" i="1" dirty="0">
                <a:solidFill>
                  <a:srgbClr val="6B7671"/>
                </a:solidFill>
                <a:latin typeface="Calibri" pitchFamily="34" charset="0"/>
                <a:ea typeface="Calibri" pitchFamily="34" charset="-122"/>
                <a:cs typeface="Calibri" pitchFamily="34" charset="-120"/>
              </a:rPr>
              <a:t>Source: jindalnaturecure.in published tariff; company programme pages.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1064240" cy="237744"/>
          </a:xfrm>
          <a:prstGeom prst="rect">
            <a:avLst/>
          </a:prstGeom>
          <a:noFill/>
          <a:ln/>
        </p:spPr>
        <p:txBody>
          <a:bodyPr wrap="square" lIns="0" tIns="0" rIns="0" bIns="0" rtlCol="0" anchor="ctr"/>
          <a:lstStyle/>
          <a:p>
            <a:pPr indent="0" marL="0">
              <a:buNone/>
            </a:pPr>
            <a:r>
              <a:rPr lang="en-US" sz="1100" b="1" spc="200" kern="0" dirty="0">
                <a:solidFill>
                  <a:srgbClr val="7FA88B"/>
                </a:solidFill>
                <a:latin typeface="Calibri" pitchFamily="34" charset="0"/>
                <a:ea typeface="Calibri" pitchFamily="34" charset="-122"/>
                <a:cs typeface="Calibri" pitchFamily="34" charset="-120"/>
              </a:rPr>
              <a:t>ECONOMICS — FINDING 1</a:t>
            </a:r>
            <a:endParaRPr lang="en-US" sz="11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200" b="1" dirty="0">
                <a:solidFill>
                  <a:srgbClr val="1E3D2F"/>
                </a:solidFill>
                <a:latin typeface="Cambria" pitchFamily="34" charset="0"/>
                <a:ea typeface="Cambria" pitchFamily="34" charset="-122"/>
                <a:cs typeface="Cambria" pitchFamily="34" charset="-120"/>
              </a:rPr>
              <a:t>Solo guests break the resort revenue model</a:t>
            </a:r>
            <a:endParaRPr lang="en-US" sz="3200" dirty="0"/>
          </a:p>
        </p:txBody>
      </p:sp>
      <p:sp>
        <p:nvSpPr>
          <p:cNvPr id="4" name="Text 2"/>
          <p:cNvSpPr/>
          <p:nvPr/>
        </p:nvSpPr>
        <p:spPr>
          <a:xfrm>
            <a:off x="548640" y="1481328"/>
            <a:ext cx="10424160" cy="548640"/>
          </a:xfrm>
          <a:prstGeom prst="rect">
            <a:avLst/>
          </a:prstGeom>
          <a:noFill/>
          <a:ln/>
        </p:spPr>
        <p:txBody>
          <a:bodyPr wrap="square" lIns="0" tIns="0" rIns="0" bIns="0" rtlCol="0" anchor="ctr"/>
          <a:lstStyle/>
          <a:p>
            <a:pPr indent="0" marL="0">
              <a:buNone/>
            </a:pPr>
            <a:r>
              <a:rPr lang="en-US" sz="1500" dirty="0">
                <a:solidFill>
                  <a:srgbClr val="22282B"/>
                </a:solidFill>
                <a:latin typeface="Calibri" pitchFamily="34" charset="0"/>
                <a:ea typeface="Calibri" pitchFamily="34" charset="-122"/>
                <a:cs typeface="Calibri" pitchFamily="34" charset="-120"/>
              </a:rPr>
              <a:t>Wellness retreats carry a far higher solo-traveller share than leisure resorts, and single supplements rarely close the gap. Any model importing resort double-occupancy assumptions will overstate revenue.</a:t>
            </a:r>
            <a:endParaRPr lang="en-US" sz="1500" dirty="0"/>
          </a:p>
        </p:txBody>
      </p:sp>
      <p:graphicFrame>
        <p:nvGraphicFramePr>
          <p:cNvPr id="5" name="Chart 0" descr=""/>
          <p:cNvGraphicFramePr/>
          <p:nvPr/>
        </p:nvGraphicFramePr>
        <p:xfrm>
          <a:off x="548640" y="2194560"/>
          <a:ext cx="6400800" cy="29260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315200" y="2194560"/>
            <a:ext cx="3657600" cy="1371600"/>
          </a:xfrm>
          <a:prstGeom prst="roundRect">
            <a:avLst>
              <a:gd name="adj" fmla="val 4000"/>
            </a:avLst>
          </a:prstGeom>
          <a:solidFill>
            <a:srgbClr val="F7F5F0"/>
          </a:solidFill>
          <a:ln w="9525">
            <a:solidFill>
              <a:srgbClr val="C3D6C8"/>
            </a:solidFill>
            <a:prstDash val="solid"/>
          </a:ln>
        </p:spPr>
      </p:sp>
      <p:sp>
        <p:nvSpPr>
          <p:cNvPr id="7" name="Text 4"/>
          <p:cNvSpPr/>
          <p:nvPr/>
        </p:nvSpPr>
        <p:spPr>
          <a:xfrm>
            <a:off x="7516368" y="2304288"/>
            <a:ext cx="3291840" cy="457200"/>
          </a:xfrm>
          <a:prstGeom prst="rect">
            <a:avLst/>
          </a:prstGeom>
          <a:noFill/>
          <a:ln/>
        </p:spPr>
        <p:txBody>
          <a:bodyPr wrap="square" lIns="0" tIns="0" rIns="0" bIns="0" rtlCol="0" anchor="ctr"/>
          <a:lstStyle/>
          <a:p>
            <a:pPr indent="0" marL="0">
              <a:buNone/>
            </a:pPr>
            <a:r>
              <a:rPr lang="en-US" sz="3000" b="1" dirty="0">
                <a:solidFill>
                  <a:srgbClr val="C9A227"/>
                </a:solidFill>
                <a:latin typeface="Cambria" pitchFamily="34" charset="0"/>
                <a:ea typeface="Cambria" pitchFamily="34" charset="-122"/>
                <a:cs typeface="Cambria" pitchFamily="34" charset="-120"/>
              </a:rPr>
              <a:t>+50%</a:t>
            </a:r>
            <a:endParaRPr lang="en-US" sz="3000" dirty="0"/>
          </a:p>
        </p:txBody>
      </p:sp>
      <p:sp>
        <p:nvSpPr>
          <p:cNvPr id="8" name="Text 5"/>
          <p:cNvSpPr/>
          <p:nvPr/>
        </p:nvSpPr>
        <p:spPr>
          <a:xfrm>
            <a:off x="7516368" y="2779776"/>
            <a:ext cx="3291840" cy="658368"/>
          </a:xfrm>
          <a:prstGeom prst="rect">
            <a:avLst/>
          </a:prstGeom>
          <a:noFill/>
          <a:ln/>
        </p:spPr>
        <p:txBody>
          <a:bodyPr wrap="square" lIns="0" tIns="0" rIns="0" bIns="0" rtlCol="0" anchor="t"/>
          <a:lstStyle/>
          <a:p>
            <a:pPr indent="0" marL="0">
              <a:buNone/>
            </a:pPr>
            <a:r>
              <a:rPr lang="en-US" sz="1150" dirty="0">
                <a:solidFill>
                  <a:srgbClr val="22282B"/>
                </a:solidFill>
                <a:latin typeface="Calibri" pitchFamily="34" charset="0"/>
                <a:ea typeface="Calibri" pitchFamily="34" charset="-122"/>
                <a:cs typeface="Calibri" pitchFamily="34" charset="-120"/>
              </a:rPr>
              <a:t>Jindal: the second guest adds only half again, not double.</a:t>
            </a:r>
            <a:endParaRPr lang="en-US" sz="1150" dirty="0"/>
          </a:p>
        </p:txBody>
      </p:sp>
      <p:sp>
        <p:nvSpPr>
          <p:cNvPr id="9" name="Shape 6"/>
          <p:cNvSpPr/>
          <p:nvPr/>
        </p:nvSpPr>
        <p:spPr>
          <a:xfrm>
            <a:off x="7315200" y="3703320"/>
            <a:ext cx="3657600" cy="1417320"/>
          </a:xfrm>
          <a:prstGeom prst="roundRect">
            <a:avLst>
              <a:gd name="adj" fmla="val 3871"/>
            </a:avLst>
          </a:prstGeom>
          <a:solidFill>
            <a:srgbClr val="F7F5F0"/>
          </a:solidFill>
          <a:ln w="9525">
            <a:solidFill>
              <a:srgbClr val="C3D6C8"/>
            </a:solidFill>
            <a:prstDash val="solid"/>
          </a:ln>
        </p:spPr>
      </p:sp>
      <p:sp>
        <p:nvSpPr>
          <p:cNvPr id="10" name="Text 7"/>
          <p:cNvSpPr/>
          <p:nvPr/>
        </p:nvSpPr>
        <p:spPr>
          <a:xfrm>
            <a:off x="7516368" y="3813048"/>
            <a:ext cx="3291840" cy="457200"/>
          </a:xfrm>
          <a:prstGeom prst="rect">
            <a:avLst/>
          </a:prstGeom>
          <a:noFill/>
          <a:ln/>
        </p:spPr>
        <p:txBody>
          <a:bodyPr wrap="square" lIns="0" tIns="0" rIns="0" bIns="0" rtlCol="0" anchor="ctr"/>
          <a:lstStyle/>
          <a:p>
            <a:pPr indent="0" marL="0">
              <a:buNone/>
            </a:pPr>
            <a:r>
              <a:rPr lang="en-US" sz="3000" b="1" dirty="0">
                <a:solidFill>
                  <a:srgbClr val="1E3D2F"/>
                </a:solidFill>
                <a:latin typeface="Cambria" pitchFamily="34" charset="0"/>
                <a:ea typeface="Cambria" pitchFamily="34" charset="-122"/>
                <a:cs typeface="Cambria" pitchFamily="34" charset="-120"/>
              </a:rPr>
              <a:t>+70%</a:t>
            </a:r>
            <a:endParaRPr lang="en-US" sz="3000" dirty="0"/>
          </a:p>
        </p:txBody>
      </p:sp>
      <p:sp>
        <p:nvSpPr>
          <p:cNvPr id="11" name="Text 8"/>
          <p:cNvSpPr/>
          <p:nvPr/>
        </p:nvSpPr>
        <p:spPr>
          <a:xfrm>
            <a:off x="7516368" y="4288536"/>
            <a:ext cx="3291840" cy="749808"/>
          </a:xfrm>
          <a:prstGeom prst="rect">
            <a:avLst/>
          </a:prstGeom>
          <a:noFill/>
          <a:ln/>
        </p:spPr>
        <p:txBody>
          <a:bodyPr wrap="square" lIns="0" tIns="0" rIns="0" bIns="0" rtlCol="0" anchor="t"/>
          <a:lstStyle/>
          <a:p>
            <a:pPr indent="0" marL="0">
              <a:buNone/>
            </a:pPr>
            <a:r>
              <a:rPr lang="en-US" sz="1150" dirty="0">
                <a:solidFill>
                  <a:srgbClr val="22282B"/>
                </a:solidFill>
                <a:latin typeface="Calibri" pitchFamily="34" charset="0"/>
                <a:ea typeface="Calibri" pitchFamily="34" charset="-122"/>
                <a:cs typeface="Calibri" pitchFamily="34" charset="-120"/>
              </a:rPr>
              <a:t>Kalari Kovilakom's single supplement — €11,220 vs €6,600 for the same 14 nights.</a:t>
            </a:r>
            <a:endParaRPr lang="en-US" sz="1150" dirty="0"/>
          </a:p>
        </p:txBody>
      </p:sp>
      <p:sp>
        <p:nvSpPr>
          <p:cNvPr id="12" name="Text 9"/>
          <p:cNvSpPr/>
          <p:nvPr/>
        </p:nvSpPr>
        <p:spPr>
          <a:xfrm>
            <a:off x="548640" y="5285232"/>
            <a:ext cx="10424160" cy="365760"/>
          </a:xfrm>
          <a:prstGeom prst="rect">
            <a:avLst/>
          </a:prstGeom>
          <a:noFill/>
          <a:ln/>
        </p:spPr>
        <p:txBody>
          <a:bodyPr wrap="square" lIns="0" tIns="0" rIns="0" bIns="0" rtlCol="0" anchor="ctr"/>
          <a:lstStyle/>
          <a:p>
            <a:pPr indent="0" marL="0">
              <a:buNone/>
            </a:pPr>
            <a:r>
              <a:rPr lang="en-US" sz="1300" b="1" dirty="0">
                <a:solidFill>
                  <a:srgbClr val="1E3D2F"/>
                </a:solidFill>
                <a:latin typeface="Calibri" pitchFamily="34" charset="0"/>
                <a:ea typeface="Calibri" pitchFamily="34" charset="-122"/>
                <a:cs typeface="Calibri" pitchFamily="34" charset="-120"/>
              </a:rPr>
              <a:t>Consequence: revenue per key in wellness runs structurally below a comparable resort at the same headline rate.</a:t>
            </a:r>
            <a:endParaRPr lang="en-US" sz="1300" dirty="0"/>
          </a:p>
        </p:txBody>
      </p:sp>
      <p:sp>
        <p:nvSpPr>
          <p:cNvPr id="13" name="Text 10"/>
          <p:cNvSpPr/>
          <p:nvPr/>
        </p:nvSpPr>
        <p:spPr>
          <a:xfrm>
            <a:off x="548640" y="6382512"/>
            <a:ext cx="11064240" cy="310896"/>
          </a:xfrm>
          <a:prstGeom prst="rect">
            <a:avLst/>
          </a:prstGeom>
          <a:noFill/>
          <a:ln/>
        </p:spPr>
        <p:txBody>
          <a:bodyPr wrap="square" lIns="0" tIns="0" rIns="0" bIns="0" rtlCol="0" anchor="ctr"/>
          <a:lstStyle/>
          <a:p>
            <a:pPr indent="0" marL="0">
              <a:buNone/>
            </a:pPr>
            <a:r>
              <a:rPr lang="en-US" sz="900" i="1" dirty="0">
                <a:solidFill>
                  <a:srgbClr val="6B7671"/>
                </a:solidFill>
                <a:latin typeface="Calibri" pitchFamily="34" charset="0"/>
                <a:ea typeface="Calibri" pitchFamily="34" charset="-122"/>
                <a:cs typeface="Calibri" pitchFamily="34" charset="-120"/>
              </a:rPr>
              <a:t>Kalari figures converted at ₹92/EUR and divided over the 14-night minimum stay. T1 published rates; FX is an assumption.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1064240" cy="237744"/>
          </a:xfrm>
          <a:prstGeom prst="rect">
            <a:avLst/>
          </a:prstGeom>
          <a:noFill/>
          <a:ln/>
        </p:spPr>
        <p:txBody>
          <a:bodyPr wrap="square" lIns="0" tIns="0" rIns="0" bIns="0" rtlCol="0" anchor="ctr"/>
          <a:lstStyle/>
          <a:p>
            <a:pPr indent="0" marL="0">
              <a:buNone/>
            </a:pPr>
            <a:r>
              <a:rPr lang="en-US" sz="1100" b="1" spc="200" kern="0" dirty="0">
                <a:solidFill>
                  <a:srgbClr val="7FA88B"/>
                </a:solidFill>
                <a:latin typeface="Calibri" pitchFamily="34" charset="0"/>
                <a:ea typeface="Calibri" pitchFamily="34" charset="-122"/>
                <a:cs typeface="Calibri" pitchFamily="34" charset="-120"/>
              </a:rPr>
              <a:t>ECONOMICS — FINDING 2</a:t>
            </a:r>
            <a:endParaRPr lang="en-US" sz="11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200" b="1" dirty="0">
                <a:solidFill>
                  <a:srgbClr val="1E3D2F"/>
                </a:solidFill>
                <a:latin typeface="Cambria" pitchFamily="34" charset="0"/>
                <a:ea typeface="Cambria" pitchFamily="34" charset="-122"/>
                <a:cs typeface="Cambria" pitchFamily="34" charset="-120"/>
              </a:rPr>
              <a:t>Kerala's peak season is the monsoon</a:t>
            </a:r>
            <a:endParaRPr lang="en-US" sz="3200" dirty="0"/>
          </a:p>
        </p:txBody>
      </p:sp>
      <p:sp>
        <p:nvSpPr>
          <p:cNvPr id="4" name="Text 2"/>
          <p:cNvSpPr/>
          <p:nvPr/>
        </p:nvSpPr>
        <p:spPr>
          <a:xfrm>
            <a:off x="548640" y="1481328"/>
            <a:ext cx="10424160" cy="548640"/>
          </a:xfrm>
          <a:prstGeom prst="rect">
            <a:avLst/>
          </a:prstGeom>
          <a:noFill/>
          <a:ln/>
        </p:spPr>
        <p:txBody>
          <a:bodyPr wrap="square" lIns="0" tIns="0" rIns="0" bIns="0" rtlCol="0" anchor="ctr"/>
          <a:lstStyle/>
          <a:p>
            <a:pPr indent="0" marL="0">
              <a:buNone/>
            </a:pPr>
            <a:r>
              <a:rPr lang="en-US" sz="1500" dirty="0">
                <a:solidFill>
                  <a:srgbClr val="22282B"/>
                </a:solidFill>
                <a:latin typeface="Calibri" pitchFamily="34" charset="0"/>
                <a:ea typeface="Calibri" pitchFamily="34" charset="-122"/>
                <a:cs typeface="Calibri" pitchFamily="34" charset="-120"/>
              </a:rPr>
              <a:t>The Ayurveda calendar inverts normal hotel seasonality. Karkidaka — the monsoon month — is considered the optimal time for Panchakarma, exactly when conventional Kerala tourism troughs.</a:t>
            </a:r>
            <a:endParaRPr lang="en-US" sz="1500" dirty="0"/>
          </a:p>
        </p:txBody>
      </p:sp>
      <p:graphicFrame>
        <p:nvGraphicFramePr>
          <p:cNvPr id="5" name="Chart 0" descr=""/>
          <p:cNvGraphicFramePr/>
          <p:nvPr/>
        </p:nvGraphicFramePr>
        <p:xfrm>
          <a:off x="548640" y="2240280"/>
          <a:ext cx="6858000" cy="3063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772400" y="2240280"/>
            <a:ext cx="3200400" cy="3063240"/>
          </a:xfrm>
          <a:prstGeom prst="roundRect">
            <a:avLst>
              <a:gd name="adj" fmla="val 1791"/>
            </a:avLst>
          </a:prstGeom>
          <a:solidFill>
            <a:srgbClr val="F7F5F0"/>
          </a:solidFill>
          <a:ln w="9525">
            <a:solidFill>
              <a:srgbClr val="C3D6C8"/>
            </a:solidFill>
            <a:prstDash val="solid"/>
          </a:ln>
        </p:spPr>
      </p:sp>
      <p:sp>
        <p:nvSpPr>
          <p:cNvPr id="7" name="Text 4"/>
          <p:cNvSpPr/>
          <p:nvPr/>
        </p:nvSpPr>
        <p:spPr>
          <a:xfrm>
            <a:off x="7991856" y="2395728"/>
            <a:ext cx="2743200" cy="274320"/>
          </a:xfrm>
          <a:prstGeom prst="rect">
            <a:avLst/>
          </a:prstGeom>
          <a:noFill/>
          <a:ln/>
        </p:spPr>
        <p:txBody>
          <a:bodyPr wrap="square" lIns="0" tIns="0" rIns="0" bIns="0" rtlCol="0" anchor="ctr"/>
          <a:lstStyle/>
          <a:p>
            <a:pPr indent="0" marL="0">
              <a:buNone/>
            </a:pPr>
            <a:r>
              <a:rPr lang="en-US" sz="1400" b="1" dirty="0">
                <a:solidFill>
                  <a:srgbClr val="1E3D2F"/>
                </a:solidFill>
                <a:latin typeface="Calibri" pitchFamily="34" charset="0"/>
                <a:ea typeface="Calibri" pitchFamily="34" charset="-122"/>
                <a:cs typeface="Calibri" pitchFamily="34" charset="-120"/>
              </a:rPr>
              <a:t>Why it matters</a:t>
            </a:r>
            <a:endParaRPr lang="en-US" sz="1400" dirty="0"/>
          </a:p>
        </p:txBody>
      </p:sp>
      <p:sp>
        <p:nvSpPr>
          <p:cNvPr id="8" name="Text 5"/>
          <p:cNvSpPr/>
          <p:nvPr/>
        </p:nvSpPr>
        <p:spPr>
          <a:xfrm>
            <a:off x="7991856" y="2743200"/>
            <a:ext cx="2788920" cy="2377440"/>
          </a:xfrm>
          <a:prstGeom prst="rect">
            <a:avLst/>
          </a:prstGeom>
          <a:noFill/>
          <a:ln/>
        </p:spPr>
        <p:txBody>
          <a:bodyPr wrap="square" lIns="0" tIns="0" rIns="0" bIns="0" rtlCol="0" anchor="t"/>
          <a:lstStyle/>
          <a:p>
            <a:pPr marL="342900" indent="-342900">
              <a:spcAft>
                <a:spcPts val="700"/>
              </a:spcAft>
              <a:buSzPct val="100000"/>
              <a:buChar char="•"/>
            </a:pPr>
            <a:r>
              <a:rPr lang="en-US" sz="1100" dirty="0">
                <a:solidFill>
                  <a:srgbClr val="22282B"/>
                </a:solidFill>
                <a:latin typeface="Calibri" pitchFamily="34" charset="0"/>
                <a:ea typeface="Calibri" pitchFamily="34" charset="-122"/>
                <a:cs typeface="Calibri" pitchFamily="34" charset="-120"/>
              </a:rPr>
              <a:t>A standard hotel seasonality curve applied to this sector gives wrong answers.</a:t>
            </a:r>
            <a:endParaRPr lang="en-US" sz="1100" dirty="0"/>
          </a:p>
          <a:p>
            <a:pPr marL="342900" indent="-342900">
              <a:spcAft>
                <a:spcPts val="700"/>
              </a:spcAft>
              <a:buSzPct val="100000"/>
              <a:buChar char="•"/>
            </a:pPr>
            <a:r>
              <a:rPr lang="en-US" sz="1100" dirty="0">
                <a:solidFill>
                  <a:srgbClr val="22282B"/>
                </a:solidFill>
                <a:latin typeface="Calibri" pitchFamily="34" charset="0"/>
                <a:ea typeface="Calibri" pitchFamily="34" charset="-122"/>
                <a:cs typeface="Calibri" pitchFamily="34" charset="-120"/>
              </a:rPr>
              <a:t>Regional curves must be modelled separately — Kerala, Himalaya and urban each behave differently.</a:t>
            </a:r>
            <a:endParaRPr lang="en-US" sz="1100" dirty="0"/>
          </a:p>
          <a:p>
            <a:pPr marL="342900" indent="-342900">
              <a:spcAft>
                <a:spcPts val="700"/>
              </a:spcAft>
              <a:buSzPct val="100000"/>
              <a:buChar char="•"/>
            </a:pPr>
            <a:r>
              <a:rPr lang="en-US" sz="1100" dirty="0">
                <a:solidFill>
                  <a:srgbClr val="22282B"/>
                </a:solidFill>
                <a:latin typeface="Calibri" pitchFamily="34" charset="0"/>
                <a:ea typeface="Calibri" pitchFamily="34" charset="-122"/>
                <a:cs typeface="Calibri" pitchFamily="34" charset="-120"/>
              </a:rPr>
              <a:t>Counter-seasonal demand is an asset: a Kerala property can fill when neighbouring resorts empty.</a:t>
            </a:r>
            <a:endParaRPr lang="en-US" sz="1100" dirty="0"/>
          </a:p>
        </p:txBody>
      </p:sp>
      <p:sp>
        <p:nvSpPr>
          <p:cNvPr id="9" name="Text 6"/>
          <p:cNvSpPr/>
          <p:nvPr/>
        </p:nvSpPr>
        <p:spPr>
          <a:xfrm>
            <a:off x="548640" y="6382512"/>
            <a:ext cx="11064240" cy="310896"/>
          </a:xfrm>
          <a:prstGeom prst="rect">
            <a:avLst/>
          </a:prstGeom>
          <a:noFill/>
          <a:ln/>
        </p:spPr>
        <p:txBody>
          <a:bodyPr wrap="square" lIns="0" tIns="0" rIns="0" bIns="0" rtlCol="0" anchor="ctr"/>
          <a:lstStyle/>
          <a:p>
            <a:pPr indent="0" marL="0">
              <a:buNone/>
            </a:pPr>
            <a:r>
              <a:rPr lang="en-US" sz="900" i="1" dirty="0">
                <a:solidFill>
                  <a:srgbClr val="6B7671"/>
                </a:solidFill>
                <a:latin typeface="Calibri" pitchFamily="34" charset="0"/>
                <a:ea typeface="Calibri" pitchFamily="34" charset="-122"/>
                <a:cs typeface="Calibri" pitchFamily="34" charset="-120"/>
              </a:rPr>
              <a:t>Curves are illustrative shape estimates (T4) pending availability sampling — they show the inversion, not measured occupancy levels.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1064240" cy="237744"/>
          </a:xfrm>
          <a:prstGeom prst="rect">
            <a:avLst/>
          </a:prstGeom>
          <a:noFill/>
          <a:ln/>
        </p:spPr>
        <p:txBody>
          <a:bodyPr wrap="square" lIns="0" tIns="0" rIns="0" bIns="0" rtlCol="0" anchor="ctr"/>
          <a:lstStyle/>
          <a:p>
            <a:pPr indent="0" marL="0">
              <a:buNone/>
            </a:pPr>
            <a:r>
              <a:rPr lang="en-US" sz="1100" b="1" spc="200" kern="0" dirty="0">
                <a:solidFill>
                  <a:srgbClr val="7FA88B"/>
                </a:solidFill>
                <a:latin typeface="Calibri" pitchFamily="34" charset="0"/>
                <a:ea typeface="Calibri" pitchFamily="34" charset="-122"/>
                <a:cs typeface="Calibri" pitchFamily="34" charset="-120"/>
              </a:rPr>
              <a:t>STRUCTURE</a:t>
            </a:r>
            <a:endParaRPr lang="en-US" sz="11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200" b="1" dirty="0">
                <a:solidFill>
                  <a:srgbClr val="1E3D2F"/>
                </a:solidFill>
                <a:latin typeface="Cambria" pitchFamily="34" charset="0"/>
                <a:ea typeface="Cambria" pitchFamily="34" charset="-122"/>
                <a:cs typeface="Cambria" pitchFamily="34" charset="-120"/>
              </a:rPr>
              <a:t>The panel is not one market — it is two</a:t>
            </a:r>
            <a:endParaRPr lang="en-US" sz="3200" dirty="0"/>
          </a:p>
        </p:txBody>
      </p:sp>
      <p:sp>
        <p:nvSpPr>
          <p:cNvPr id="4" name="Text 2"/>
          <p:cNvSpPr/>
          <p:nvPr/>
        </p:nvSpPr>
        <p:spPr>
          <a:xfrm>
            <a:off x="548640" y="1481328"/>
            <a:ext cx="10424160" cy="502920"/>
          </a:xfrm>
          <a:prstGeom prst="rect">
            <a:avLst/>
          </a:prstGeom>
          <a:noFill/>
          <a:ln/>
        </p:spPr>
        <p:txBody>
          <a:bodyPr wrap="square" lIns="0" tIns="0" rIns="0" bIns="0" rtlCol="0" anchor="ctr"/>
          <a:lstStyle/>
          <a:p>
            <a:pPr indent="0" marL="0">
              <a:buNone/>
            </a:pPr>
            <a:r>
              <a:rPr lang="en-US" sz="1500" dirty="0">
                <a:solidFill>
                  <a:srgbClr val="22282B"/>
                </a:solidFill>
                <a:latin typeface="Calibri" pitchFamily="34" charset="0"/>
                <a:ea typeface="Calibri" pitchFamily="34" charset="-122"/>
                <a:cs typeface="Calibri" pitchFamily="34" charset="-120"/>
              </a:rPr>
              <a:t>Patanjali's Yog Gram runs 1,212 rooms. Ananda runs 78. These are not competitors; they are different industries that happen to share a vocabulary.</a:t>
            </a:r>
            <a:endParaRPr lang="en-US" sz="1500" dirty="0"/>
          </a:p>
        </p:txBody>
      </p:sp>
      <p:graphicFrame>
        <p:nvGraphicFramePr>
          <p:cNvPr id="5" name="Chart 0" descr=""/>
          <p:cNvGraphicFramePr/>
          <p:nvPr/>
        </p:nvGraphicFramePr>
        <p:xfrm>
          <a:off x="548640" y="2148840"/>
          <a:ext cx="694944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863840" y="2148840"/>
            <a:ext cx="3108960" cy="1481328"/>
          </a:xfrm>
          <a:prstGeom prst="roundRect">
            <a:avLst>
              <a:gd name="adj" fmla="val 3704"/>
            </a:avLst>
          </a:prstGeom>
          <a:solidFill>
            <a:srgbClr val="F7F5F0"/>
          </a:solidFill>
          <a:ln w="9525">
            <a:solidFill>
              <a:srgbClr val="C3D6C8"/>
            </a:solidFill>
            <a:prstDash val="solid"/>
          </a:ln>
        </p:spPr>
      </p:sp>
      <p:sp>
        <p:nvSpPr>
          <p:cNvPr id="7" name="Text 4"/>
          <p:cNvSpPr/>
          <p:nvPr/>
        </p:nvSpPr>
        <p:spPr>
          <a:xfrm>
            <a:off x="8083296" y="2267712"/>
            <a:ext cx="2743200" cy="502920"/>
          </a:xfrm>
          <a:prstGeom prst="rect">
            <a:avLst/>
          </a:prstGeom>
          <a:noFill/>
          <a:ln/>
        </p:spPr>
        <p:txBody>
          <a:bodyPr wrap="square" lIns="0" tIns="0" rIns="0" bIns="0" rtlCol="0" anchor="ctr"/>
          <a:lstStyle/>
          <a:p>
            <a:pPr indent="0" marL="0">
              <a:buNone/>
            </a:pPr>
            <a:r>
              <a:rPr lang="en-US" sz="3200" b="1" dirty="0">
                <a:solidFill>
                  <a:srgbClr val="C9A227"/>
                </a:solidFill>
                <a:latin typeface="Cambria" pitchFamily="34" charset="0"/>
                <a:ea typeface="Cambria" pitchFamily="34" charset="-122"/>
                <a:cs typeface="Cambria" pitchFamily="34" charset="-120"/>
              </a:rPr>
              <a:t>12x</a:t>
            </a:r>
            <a:endParaRPr lang="en-US" sz="3200" dirty="0"/>
          </a:p>
        </p:txBody>
      </p:sp>
      <p:sp>
        <p:nvSpPr>
          <p:cNvPr id="8" name="Text 5"/>
          <p:cNvSpPr/>
          <p:nvPr/>
        </p:nvSpPr>
        <p:spPr>
          <a:xfrm>
            <a:off x="8083296" y="2779776"/>
            <a:ext cx="2743200" cy="777240"/>
          </a:xfrm>
          <a:prstGeom prst="rect">
            <a:avLst/>
          </a:prstGeom>
          <a:noFill/>
          <a:ln/>
        </p:spPr>
        <p:txBody>
          <a:bodyPr wrap="square" lIns="0" tIns="0" rIns="0" bIns="0" rtlCol="0" anchor="t"/>
          <a:lstStyle/>
          <a:p>
            <a:pPr indent="0" marL="0">
              <a:buNone/>
            </a:pPr>
            <a:r>
              <a:rPr lang="en-US" sz="1100" dirty="0">
                <a:solidFill>
                  <a:srgbClr val="22282B"/>
                </a:solidFill>
                <a:latin typeface="Calibri" pitchFamily="34" charset="0"/>
                <a:ea typeface="Calibri" pitchFamily="34" charset="-122"/>
                <a:cs typeface="Calibri" pitchFamily="34" charset="-120"/>
              </a:rPr>
              <a:t>Patanjali is roughly twelve times the size of the entire luxury cohort's typical property.</a:t>
            </a:r>
            <a:endParaRPr lang="en-US" sz="1100" dirty="0"/>
          </a:p>
        </p:txBody>
      </p:sp>
      <p:sp>
        <p:nvSpPr>
          <p:cNvPr id="9" name="Shape 6"/>
          <p:cNvSpPr/>
          <p:nvPr/>
        </p:nvSpPr>
        <p:spPr>
          <a:xfrm>
            <a:off x="7863840" y="3767328"/>
            <a:ext cx="3108960" cy="1536192"/>
          </a:xfrm>
          <a:prstGeom prst="roundRect">
            <a:avLst>
              <a:gd name="adj" fmla="val 3571"/>
            </a:avLst>
          </a:prstGeom>
          <a:solidFill>
            <a:srgbClr val="F7F5F0"/>
          </a:solidFill>
          <a:ln w="9525">
            <a:solidFill>
              <a:srgbClr val="C3D6C8"/>
            </a:solidFill>
            <a:prstDash val="solid"/>
          </a:ln>
        </p:spPr>
      </p:sp>
      <p:sp>
        <p:nvSpPr>
          <p:cNvPr id="10" name="Text 7"/>
          <p:cNvSpPr/>
          <p:nvPr/>
        </p:nvSpPr>
        <p:spPr>
          <a:xfrm>
            <a:off x="8083296" y="3895344"/>
            <a:ext cx="2743200" cy="256032"/>
          </a:xfrm>
          <a:prstGeom prst="rect">
            <a:avLst/>
          </a:prstGeom>
          <a:noFill/>
          <a:ln/>
        </p:spPr>
        <p:txBody>
          <a:bodyPr wrap="square" lIns="0" tIns="0" rIns="0" bIns="0" rtlCol="0" anchor="ctr"/>
          <a:lstStyle/>
          <a:p>
            <a:pPr indent="0" marL="0">
              <a:buNone/>
            </a:pPr>
            <a:r>
              <a:rPr lang="en-US" sz="1300" b="1" dirty="0">
                <a:solidFill>
                  <a:srgbClr val="1E3D2F"/>
                </a:solidFill>
                <a:latin typeface="Calibri" pitchFamily="34" charset="0"/>
                <a:ea typeface="Calibri" pitchFamily="34" charset="-122"/>
                <a:cs typeface="Calibri" pitchFamily="34" charset="-120"/>
              </a:rPr>
              <a:t>Implication</a:t>
            </a:r>
            <a:endParaRPr lang="en-US" sz="1300" dirty="0"/>
          </a:p>
        </p:txBody>
      </p:sp>
      <p:sp>
        <p:nvSpPr>
          <p:cNvPr id="11" name="Text 8"/>
          <p:cNvSpPr/>
          <p:nvPr/>
        </p:nvSpPr>
        <p:spPr>
          <a:xfrm>
            <a:off x="8083296" y="4187952"/>
            <a:ext cx="2743200" cy="1005840"/>
          </a:xfrm>
          <a:prstGeom prst="rect">
            <a:avLst/>
          </a:prstGeom>
          <a:noFill/>
          <a:ln/>
        </p:spPr>
        <p:txBody>
          <a:bodyPr wrap="square" lIns="0" tIns="0" rIns="0" bIns="0" rtlCol="0" anchor="t"/>
          <a:lstStyle/>
          <a:p>
            <a:pPr indent="0" marL="0">
              <a:buNone/>
            </a:pPr>
            <a:r>
              <a:rPr lang="en-US" sz="1100" dirty="0">
                <a:solidFill>
                  <a:srgbClr val="22282B"/>
                </a:solidFill>
                <a:latin typeface="Calibri" pitchFamily="34" charset="0"/>
                <a:ea typeface="Calibri" pitchFamily="34" charset="-122"/>
                <a:cs typeface="Calibri" pitchFamily="34" charset="-120"/>
              </a:rPr>
              <a:t>Blended 'sector averages' across this panel are meaningless. All benchmarking must be run within archetype, never across it.</a:t>
            </a:r>
            <a:endParaRPr lang="en-US" sz="1100" dirty="0"/>
          </a:p>
        </p:txBody>
      </p:sp>
      <p:sp>
        <p:nvSpPr>
          <p:cNvPr id="12" name="Text 9"/>
          <p:cNvSpPr/>
          <p:nvPr/>
        </p:nvSpPr>
        <p:spPr>
          <a:xfrm>
            <a:off x="548640" y="6382512"/>
            <a:ext cx="11064240" cy="310896"/>
          </a:xfrm>
          <a:prstGeom prst="rect">
            <a:avLst/>
          </a:prstGeom>
          <a:noFill/>
          <a:ln/>
        </p:spPr>
        <p:txBody>
          <a:bodyPr wrap="square" lIns="0" tIns="0" rIns="0" bIns="0" rtlCol="0" anchor="ctr"/>
          <a:lstStyle/>
          <a:p>
            <a:pPr indent="0" marL="0">
              <a:buNone/>
            </a:pPr>
            <a:r>
              <a:rPr lang="en-US" sz="900" i="1" dirty="0">
                <a:solidFill>
                  <a:srgbClr val="6B7671"/>
                </a:solidFill>
                <a:latin typeface="Calibri" pitchFamily="34" charset="0"/>
                <a:ea typeface="Calibri" pitchFamily="34" charset="-122"/>
                <a:cs typeface="Calibri" pitchFamily="34" charset="-120"/>
              </a:rPr>
              <a:t>T1 key counts. Properties with unverified key counts are omitted from this chart rather than estimated — see the gap register.</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1064240" cy="237744"/>
          </a:xfrm>
          <a:prstGeom prst="rect">
            <a:avLst/>
          </a:prstGeom>
          <a:noFill/>
          <a:ln/>
        </p:spPr>
        <p:txBody>
          <a:bodyPr wrap="square" lIns="0" tIns="0" rIns="0" bIns="0" rtlCol="0" anchor="ctr"/>
          <a:lstStyle/>
          <a:p>
            <a:pPr indent="0" marL="0">
              <a:buNone/>
            </a:pPr>
            <a:r>
              <a:rPr lang="en-US" sz="1100" b="1" spc="200" kern="0" dirty="0">
                <a:solidFill>
                  <a:srgbClr val="7FA88B"/>
                </a:solidFill>
                <a:latin typeface="Calibri" pitchFamily="34" charset="0"/>
                <a:ea typeface="Calibri" pitchFamily="34" charset="-122"/>
                <a:cs typeface="Calibri" pitchFamily="34" charset="-120"/>
              </a:rPr>
              <a:t>LAND ECONOMICS</a:t>
            </a:r>
            <a:endParaRPr lang="en-US" sz="11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200" b="1" dirty="0">
                <a:solidFill>
                  <a:srgbClr val="1E3D2F"/>
                </a:solidFill>
                <a:latin typeface="Cambria" pitchFamily="34" charset="0"/>
                <a:ea typeface="Cambria" pitchFamily="34" charset="-122"/>
                <a:cs typeface="Cambria" pitchFamily="34" charset="-120"/>
              </a:rPr>
              <a:t>Keys per acre varies 8x — the number a landowner needs</a:t>
            </a:r>
            <a:endParaRPr lang="en-US" sz="3200" dirty="0"/>
          </a:p>
        </p:txBody>
      </p:sp>
      <p:sp>
        <p:nvSpPr>
          <p:cNvPr id="4" name="Text 2"/>
          <p:cNvSpPr/>
          <p:nvPr/>
        </p:nvSpPr>
        <p:spPr>
          <a:xfrm>
            <a:off x="548640" y="1481328"/>
            <a:ext cx="10424160" cy="502920"/>
          </a:xfrm>
          <a:prstGeom prst="rect">
            <a:avLst/>
          </a:prstGeom>
          <a:noFill/>
          <a:ln/>
        </p:spPr>
        <p:txBody>
          <a:bodyPr wrap="square" lIns="0" tIns="0" rIns="0" bIns="0" rtlCol="0" anchor="ctr"/>
          <a:lstStyle/>
          <a:p>
            <a:pPr indent="0" marL="0">
              <a:buNone/>
            </a:pPr>
            <a:r>
              <a:rPr lang="en-US" sz="1500" dirty="0">
                <a:solidFill>
                  <a:srgbClr val="22282B"/>
                </a:solidFill>
                <a:latin typeface="Calibri" pitchFamily="34" charset="0"/>
                <a:ea typeface="Calibri" pitchFamily="34" charset="-122"/>
                <a:cs typeface="Calibri" pitchFamily="34" charset="-120"/>
              </a:rPr>
              <a:t>How much retreat a parcel supports is the first question any landowner asks. Across the panel the answer ranges from under half a key per acre to four.</a:t>
            </a:r>
            <a:endParaRPr lang="en-US" sz="1500" dirty="0"/>
          </a:p>
        </p:txBody>
      </p:sp>
      <p:graphicFrame>
        <p:nvGraphicFramePr>
          <p:cNvPr id="5" name="Chart 0" descr=""/>
          <p:cNvGraphicFramePr/>
          <p:nvPr/>
        </p:nvGraphicFramePr>
        <p:xfrm>
          <a:off x="548640" y="2148840"/>
          <a:ext cx="6949440" cy="31546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863840" y="2148840"/>
            <a:ext cx="3108960" cy="3154680"/>
          </a:xfrm>
          <a:prstGeom prst="roundRect">
            <a:avLst>
              <a:gd name="adj" fmla="val 1765"/>
            </a:avLst>
          </a:prstGeom>
          <a:solidFill>
            <a:srgbClr val="F7F5F0"/>
          </a:solidFill>
          <a:ln w="9525">
            <a:solidFill>
              <a:srgbClr val="C3D6C8"/>
            </a:solidFill>
            <a:prstDash val="solid"/>
          </a:ln>
        </p:spPr>
      </p:sp>
      <p:sp>
        <p:nvSpPr>
          <p:cNvPr id="7" name="Text 4"/>
          <p:cNvSpPr/>
          <p:nvPr/>
        </p:nvSpPr>
        <p:spPr>
          <a:xfrm>
            <a:off x="8083296" y="2304288"/>
            <a:ext cx="2743200" cy="274320"/>
          </a:xfrm>
          <a:prstGeom prst="rect">
            <a:avLst/>
          </a:prstGeom>
          <a:noFill/>
          <a:ln/>
        </p:spPr>
        <p:txBody>
          <a:bodyPr wrap="square" lIns="0" tIns="0" rIns="0" bIns="0" rtlCol="0" anchor="ctr"/>
          <a:lstStyle/>
          <a:p>
            <a:pPr indent="0" marL="0">
              <a:buNone/>
            </a:pPr>
            <a:r>
              <a:rPr lang="en-US" sz="1400" b="1" dirty="0">
                <a:solidFill>
                  <a:srgbClr val="1E3D2F"/>
                </a:solidFill>
                <a:latin typeface="Calibri" pitchFamily="34" charset="0"/>
                <a:ea typeface="Calibri" pitchFamily="34" charset="-122"/>
                <a:cs typeface="Calibri" pitchFamily="34" charset="-120"/>
              </a:rPr>
              <a:t>Reading this</a:t>
            </a:r>
            <a:endParaRPr lang="en-US" sz="1400" dirty="0"/>
          </a:p>
        </p:txBody>
      </p:sp>
      <p:sp>
        <p:nvSpPr>
          <p:cNvPr id="8" name="Text 5"/>
          <p:cNvSpPr/>
          <p:nvPr/>
        </p:nvSpPr>
        <p:spPr>
          <a:xfrm>
            <a:off x="8083296" y="2670048"/>
            <a:ext cx="2743200" cy="251460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22282B"/>
                </a:solidFill>
                <a:latin typeface="Calibri" pitchFamily="34" charset="0"/>
                <a:ea typeface="Calibri" pitchFamily="34" charset="-122"/>
                <a:cs typeface="Calibri" pitchFamily="34" charset="-120"/>
              </a:rPr>
              <a:t>Density is a positioning choice, not a constraint. Ananda sits on 100 acres by design — the land IS the product.</a:t>
            </a:r>
            <a:endParaRPr lang="en-US" sz="1050" dirty="0"/>
          </a:p>
          <a:p>
            <a:pPr marL="342900" indent="-342900">
              <a:spcAft>
                <a:spcPts val="700"/>
              </a:spcAft>
              <a:buSzPct val="100000"/>
              <a:buChar char="•"/>
            </a:pPr>
            <a:r>
              <a:rPr lang="en-US" sz="1050" dirty="0">
                <a:solidFill>
                  <a:srgbClr val="22282B"/>
                </a:solidFill>
                <a:latin typeface="Calibri" pitchFamily="34" charset="0"/>
                <a:ea typeface="Calibri" pitchFamily="34" charset="-122"/>
                <a:cs typeface="Calibri" pitchFamily="34" charset="-120"/>
              </a:rPr>
              <a:t>Urban-edge properties (AyurvedaGram, Vana) build dense because land costs more and catchment is closer.</a:t>
            </a:r>
            <a:endParaRPr lang="en-US" sz="1050" dirty="0"/>
          </a:p>
          <a:p>
            <a:pPr marL="342900" indent="-342900">
              <a:spcAft>
                <a:spcPts val="700"/>
              </a:spcAft>
              <a:buSzPct val="100000"/>
              <a:buChar char="•"/>
            </a:pPr>
            <a:r>
              <a:rPr lang="en-US" sz="1050" dirty="0">
                <a:solidFill>
                  <a:srgbClr val="22282B"/>
                </a:solidFill>
                <a:latin typeface="Calibri" pitchFamily="34" charset="0"/>
                <a:ea typeface="Calibri" pitchFamily="34" charset="-122"/>
                <a:cs typeface="Calibri" pitchFamily="34" charset="-120"/>
              </a:rPr>
              <a:t>Atmantan at 2.7 keys/acre is the commercially proven midpoint — and the only one with disclosed revenue.</a:t>
            </a:r>
            <a:endParaRPr lang="en-US" sz="1050" dirty="0"/>
          </a:p>
        </p:txBody>
      </p:sp>
      <p:sp>
        <p:nvSpPr>
          <p:cNvPr id="9" name="Text 6"/>
          <p:cNvSpPr/>
          <p:nvPr/>
        </p:nvSpPr>
        <p:spPr>
          <a:xfrm>
            <a:off x="548640" y="6382512"/>
            <a:ext cx="11064240" cy="310896"/>
          </a:xfrm>
          <a:prstGeom prst="rect">
            <a:avLst/>
          </a:prstGeom>
          <a:noFill/>
          <a:ln/>
        </p:spPr>
        <p:txBody>
          <a:bodyPr wrap="square" lIns="0" tIns="0" rIns="0" bIns="0" rtlCol="0" anchor="ctr"/>
          <a:lstStyle/>
          <a:p>
            <a:pPr indent="0" marL="0">
              <a:buNone/>
            </a:pPr>
            <a:r>
              <a:rPr lang="en-US" sz="900" i="1" dirty="0">
                <a:solidFill>
                  <a:srgbClr val="6B7671"/>
                </a:solidFill>
                <a:latin typeface="Calibri" pitchFamily="34" charset="0"/>
                <a:ea typeface="Calibri" pitchFamily="34" charset="-122"/>
                <a:cs typeface="Calibri" pitchFamily="34" charset="-120"/>
              </a:rPr>
              <a:t>T1 key counts and land areas. Dharana at Shillim excluded — its 2,500-acre figure is the surrounding estate, not the developed parcel.</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1064240" cy="237744"/>
          </a:xfrm>
          <a:prstGeom prst="rect">
            <a:avLst/>
          </a:prstGeom>
          <a:noFill/>
          <a:ln/>
        </p:spPr>
        <p:txBody>
          <a:bodyPr wrap="square" lIns="0" tIns="0" rIns="0" bIns="0" rtlCol="0" anchor="ctr"/>
          <a:lstStyle/>
          <a:p>
            <a:pPr indent="0" marL="0">
              <a:buNone/>
            </a:pPr>
            <a:r>
              <a:rPr lang="en-US" sz="1100" b="1" spc="200" kern="0" dirty="0">
                <a:solidFill>
                  <a:srgbClr val="7FA88B"/>
                </a:solidFill>
                <a:latin typeface="Calibri" pitchFamily="34" charset="0"/>
                <a:ea typeface="Calibri" pitchFamily="34" charset="-122"/>
                <a:cs typeface="Calibri" pitchFamily="34" charset="-120"/>
              </a:rPr>
              <a:t>PRICING</a:t>
            </a:r>
            <a:endParaRPr lang="en-US" sz="11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200" b="1" dirty="0">
                <a:solidFill>
                  <a:srgbClr val="1E3D2F"/>
                </a:solidFill>
                <a:latin typeface="Cambria" pitchFamily="34" charset="0"/>
                <a:ea typeface="Cambria" pitchFamily="34" charset="-122"/>
                <a:cs typeface="Cambria" pitchFamily="34" charset="-120"/>
              </a:rPr>
              <a:t>The pricing ladder spans roughly 15x</a:t>
            </a:r>
            <a:endParaRPr lang="en-US" sz="3200" dirty="0"/>
          </a:p>
        </p:txBody>
      </p:sp>
      <p:sp>
        <p:nvSpPr>
          <p:cNvPr id="4" name="Text 2"/>
          <p:cNvSpPr/>
          <p:nvPr/>
        </p:nvSpPr>
        <p:spPr>
          <a:xfrm>
            <a:off x="548640" y="1481328"/>
            <a:ext cx="10424160" cy="502920"/>
          </a:xfrm>
          <a:prstGeom prst="rect">
            <a:avLst/>
          </a:prstGeom>
          <a:noFill/>
          <a:ln/>
        </p:spPr>
        <p:txBody>
          <a:bodyPr wrap="square" lIns="0" tIns="0" rIns="0" bIns="0" rtlCol="0" anchor="ctr"/>
          <a:lstStyle/>
          <a:p>
            <a:pPr indent="0" marL="0">
              <a:buNone/>
            </a:pPr>
            <a:r>
              <a:rPr lang="en-US" sz="1500" dirty="0">
                <a:solidFill>
                  <a:srgbClr val="22282B"/>
                </a:solidFill>
                <a:latin typeface="Calibri" pitchFamily="34" charset="0"/>
                <a:ea typeface="Calibri" pitchFamily="34" charset="-122"/>
                <a:cs typeface="Calibri" pitchFamily="34" charset="-120"/>
              </a:rPr>
              <a:t>Normalised to rupees per person per night, all-inclusive where the property sells that way. The gap in the middle is the report's central commercial hypothesis.</a:t>
            </a:r>
            <a:endParaRPr lang="en-US" sz="1500" dirty="0"/>
          </a:p>
        </p:txBody>
      </p:sp>
      <p:graphicFrame>
        <p:nvGraphicFramePr>
          <p:cNvPr id="5" name="Chart 0" descr=""/>
          <p:cNvGraphicFramePr/>
          <p:nvPr/>
        </p:nvGraphicFramePr>
        <p:xfrm>
          <a:off x="548640" y="2148840"/>
          <a:ext cx="6949440" cy="31089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863840" y="2148840"/>
            <a:ext cx="3108960" cy="3108960"/>
          </a:xfrm>
          <a:prstGeom prst="roundRect">
            <a:avLst>
              <a:gd name="adj" fmla="val 1765"/>
            </a:avLst>
          </a:prstGeom>
          <a:solidFill>
            <a:srgbClr val="EDF2EA"/>
          </a:solidFill>
          <a:ln w="9525">
            <a:solidFill>
              <a:srgbClr val="C3D6C8"/>
            </a:solidFill>
            <a:prstDash val="solid"/>
          </a:ln>
        </p:spPr>
      </p:sp>
      <p:sp>
        <p:nvSpPr>
          <p:cNvPr id="7" name="Text 4"/>
          <p:cNvSpPr/>
          <p:nvPr/>
        </p:nvSpPr>
        <p:spPr>
          <a:xfrm>
            <a:off x="8083296" y="2304288"/>
            <a:ext cx="2743200" cy="274320"/>
          </a:xfrm>
          <a:prstGeom prst="rect">
            <a:avLst/>
          </a:prstGeom>
          <a:noFill/>
          <a:ln/>
        </p:spPr>
        <p:txBody>
          <a:bodyPr wrap="square" lIns="0" tIns="0" rIns="0" bIns="0" rtlCol="0" anchor="ctr"/>
          <a:lstStyle/>
          <a:p>
            <a:pPr indent="0" marL="0">
              <a:buNone/>
            </a:pPr>
            <a:r>
              <a:rPr lang="en-US" sz="1400" b="1" dirty="0">
                <a:solidFill>
                  <a:srgbClr val="1E3D2F"/>
                </a:solidFill>
                <a:latin typeface="Calibri" pitchFamily="34" charset="0"/>
                <a:ea typeface="Calibri" pitchFamily="34" charset="-122"/>
                <a:cs typeface="Calibri" pitchFamily="34" charset="-120"/>
              </a:rPr>
              <a:t>The missing tier</a:t>
            </a:r>
            <a:endParaRPr lang="en-US" sz="1400" dirty="0"/>
          </a:p>
        </p:txBody>
      </p:sp>
      <p:sp>
        <p:nvSpPr>
          <p:cNvPr id="8" name="Text 5"/>
          <p:cNvSpPr/>
          <p:nvPr/>
        </p:nvSpPr>
        <p:spPr>
          <a:xfrm>
            <a:off x="8083296" y="2633472"/>
            <a:ext cx="2743200" cy="457200"/>
          </a:xfrm>
          <a:prstGeom prst="rect">
            <a:avLst/>
          </a:prstGeom>
          <a:noFill/>
          <a:ln/>
        </p:spPr>
        <p:txBody>
          <a:bodyPr wrap="square" lIns="0" tIns="0" rIns="0" bIns="0" rtlCol="0" anchor="ctr"/>
          <a:lstStyle/>
          <a:p>
            <a:pPr indent="0" marL="0">
              <a:buNone/>
            </a:pPr>
            <a:r>
              <a:rPr lang="en-US" sz="2600" b="1" dirty="0">
                <a:solidFill>
                  <a:srgbClr val="C9A227"/>
                </a:solidFill>
                <a:latin typeface="Cambria" pitchFamily="34" charset="0"/>
                <a:ea typeface="Cambria" pitchFamily="34" charset="-122"/>
                <a:cs typeface="Cambria" pitchFamily="34" charset="-120"/>
              </a:rPr>
              <a:t>₹15k–40k</a:t>
            </a:r>
            <a:endParaRPr lang="en-US" sz="2600" dirty="0"/>
          </a:p>
        </p:txBody>
      </p:sp>
      <p:sp>
        <p:nvSpPr>
          <p:cNvPr id="9" name="Text 6"/>
          <p:cNvSpPr/>
          <p:nvPr/>
        </p:nvSpPr>
        <p:spPr>
          <a:xfrm>
            <a:off x="8083296" y="3154680"/>
            <a:ext cx="2743200" cy="2011680"/>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22282B"/>
                </a:solidFill>
                <a:latin typeface="Calibri" pitchFamily="34" charset="0"/>
                <a:ea typeface="Calibri" pitchFamily="34" charset="-122"/>
                <a:cs typeface="Calibri" pitchFamily="34" charset="-120"/>
              </a:rPr>
              <a:t>Below ₹17k the panel is naturopathy institutions with clinical framing and modest amenity.</a:t>
            </a:r>
            <a:endParaRPr lang="en-US" sz="1050" dirty="0"/>
          </a:p>
          <a:p>
            <a:pPr marL="342900" indent="-342900">
              <a:spcAft>
                <a:spcPts val="700"/>
              </a:spcAft>
              <a:buSzPct val="100000"/>
              <a:buChar char="•"/>
            </a:pPr>
            <a:r>
              <a:rPr lang="en-US" sz="1050" dirty="0">
                <a:solidFill>
                  <a:srgbClr val="22282B"/>
                </a:solidFill>
                <a:latin typeface="Calibri" pitchFamily="34" charset="0"/>
                <a:ea typeface="Calibri" pitchFamily="34" charset="-122"/>
                <a:cs typeface="Calibri" pitchFamily="34" charset="-120"/>
              </a:rPr>
              <a:t>Above ₹33k it is international-standard luxury.</a:t>
            </a:r>
            <a:endParaRPr lang="en-US" sz="1050" dirty="0"/>
          </a:p>
          <a:p>
            <a:pPr marL="342900" indent="-342900">
              <a:spcAft>
                <a:spcPts val="700"/>
              </a:spcAft>
              <a:buSzPct val="100000"/>
              <a:buChar char="•"/>
            </a:pPr>
            <a:r>
              <a:rPr lang="en-US" sz="1050" dirty="0">
                <a:solidFill>
                  <a:srgbClr val="22282B"/>
                </a:solidFill>
                <a:latin typeface="Calibri" pitchFamily="34" charset="0"/>
                <a:ea typeface="Calibri" pitchFamily="34" charset="-122"/>
                <a:cs typeface="Calibri" pitchFamily="34" charset="-120"/>
              </a:rPr>
              <a:t>The mid-premium band — serious clinical depth at domestic-affordable pricing — is thinly served.</a:t>
            </a:r>
            <a:endParaRPr lang="en-US" sz="1050" dirty="0"/>
          </a:p>
        </p:txBody>
      </p:sp>
      <p:sp>
        <p:nvSpPr>
          <p:cNvPr id="10" name="Text 7"/>
          <p:cNvSpPr/>
          <p:nvPr/>
        </p:nvSpPr>
        <p:spPr>
          <a:xfrm>
            <a:off x="548640" y="6382512"/>
            <a:ext cx="11064240" cy="310896"/>
          </a:xfrm>
          <a:prstGeom prst="rect">
            <a:avLst/>
          </a:prstGeom>
          <a:noFill/>
          <a:ln/>
        </p:spPr>
        <p:txBody>
          <a:bodyPr wrap="square" lIns="0" tIns="0" rIns="0" bIns="0" rtlCol="0" anchor="ctr"/>
          <a:lstStyle/>
          <a:p>
            <a:pPr indent="0" marL="0">
              <a:buNone/>
            </a:pPr>
            <a:r>
              <a:rPr lang="en-US" sz="900" i="1" dirty="0">
                <a:solidFill>
                  <a:srgbClr val="6B7671"/>
                </a:solidFill>
                <a:latin typeface="Calibri" pitchFamily="34" charset="0"/>
                <a:ea typeface="Calibri" pitchFamily="34" charset="-122"/>
                <a:cs typeface="Calibri" pitchFamily="34" charset="-120"/>
              </a:rPr>
              <a:t>T1 published rates except Atmantan (T3 modelled). FX assumptions: ₹85/USD, ₹92/EUR. Jindal figure combines published room rate with mid-point treatment charge.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1064240" cy="237744"/>
          </a:xfrm>
          <a:prstGeom prst="rect">
            <a:avLst/>
          </a:prstGeom>
          <a:noFill/>
          <a:ln/>
        </p:spPr>
        <p:txBody>
          <a:bodyPr wrap="square" lIns="0" tIns="0" rIns="0" bIns="0" rtlCol="0" anchor="ctr"/>
          <a:lstStyle/>
          <a:p>
            <a:pPr indent="0" marL="0">
              <a:buNone/>
            </a:pPr>
            <a:r>
              <a:rPr lang="en-US" sz="1100" b="1" spc="200" kern="0" dirty="0">
                <a:solidFill>
                  <a:srgbClr val="7FA88B"/>
                </a:solidFill>
                <a:latin typeface="Calibri" pitchFamily="34" charset="0"/>
                <a:ea typeface="Calibri" pitchFamily="34" charset="-122"/>
                <a:cs typeface="Calibri" pitchFamily="34" charset="-120"/>
              </a:rPr>
              <a:t>THE MODEL</a:t>
            </a:r>
            <a:endParaRPr lang="en-US" sz="11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200" b="1" dirty="0">
                <a:solidFill>
                  <a:srgbClr val="1E3D2F"/>
                </a:solidFill>
                <a:latin typeface="Cambria" pitchFamily="34" charset="0"/>
                <a:ea typeface="Cambria" pitchFamily="34" charset="-122"/>
                <a:cs typeface="Cambria" pitchFamily="34" charset="-120"/>
              </a:rPr>
              <a:t>How revenue is estimated</a:t>
            </a:r>
            <a:endParaRPr lang="en-US" sz="3200" dirty="0"/>
          </a:p>
        </p:txBody>
      </p:sp>
      <p:sp>
        <p:nvSpPr>
          <p:cNvPr id="4" name="Shape 2"/>
          <p:cNvSpPr/>
          <p:nvPr/>
        </p:nvSpPr>
        <p:spPr>
          <a:xfrm>
            <a:off x="548640" y="1463040"/>
            <a:ext cx="10424160" cy="914400"/>
          </a:xfrm>
          <a:prstGeom prst="roundRect">
            <a:avLst>
              <a:gd name="adj" fmla="val 6000"/>
            </a:avLst>
          </a:prstGeom>
          <a:solidFill>
            <a:srgbClr val="EDF2EA"/>
          </a:solidFill>
          <a:ln w="9525">
            <a:solidFill>
              <a:srgbClr val="C3D6C8"/>
            </a:solidFill>
            <a:prstDash val="solid"/>
          </a:ln>
        </p:spPr>
      </p:sp>
      <p:sp>
        <p:nvSpPr>
          <p:cNvPr id="5" name="Text 3"/>
          <p:cNvSpPr/>
          <p:nvPr/>
        </p:nvSpPr>
        <p:spPr>
          <a:xfrm>
            <a:off x="822960" y="1609344"/>
            <a:ext cx="9875520" cy="365760"/>
          </a:xfrm>
          <a:prstGeom prst="rect">
            <a:avLst/>
          </a:prstGeom>
          <a:noFill/>
          <a:ln/>
        </p:spPr>
        <p:txBody>
          <a:bodyPr wrap="square" lIns="0" tIns="0" rIns="0" bIns="0" rtlCol="0" anchor="ctr"/>
          <a:lstStyle/>
          <a:p>
            <a:pPr indent="0" marL="0">
              <a:buNone/>
            </a:pPr>
            <a:r>
              <a:rPr lang="en-US" sz="1600" b="1" dirty="0">
                <a:solidFill>
                  <a:srgbClr val="1E3D2F"/>
                </a:solidFill>
                <a:latin typeface="Courier New" pitchFamily="34" charset="0"/>
                <a:ea typeface="Courier New" pitchFamily="34" charset="-122"/>
                <a:cs typeface="Courier New" pitchFamily="34" charset="-120"/>
              </a:rPr>
              <a:t>Modelled revenue  =  Keys  ×  365  ×  Occupancy  ×  TROR</a:t>
            </a:r>
            <a:endParaRPr lang="en-US" sz="1600" dirty="0"/>
          </a:p>
        </p:txBody>
      </p:sp>
      <p:sp>
        <p:nvSpPr>
          <p:cNvPr id="6" name="Text 4"/>
          <p:cNvSpPr/>
          <p:nvPr/>
        </p:nvSpPr>
        <p:spPr>
          <a:xfrm>
            <a:off x="822960" y="1993392"/>
            <a:ext cx="9875520" cy="310896"/>
          </a:xfrm>
          <a:prstGeom prst="rect">
            <a:avLst/>
          </a:prstGeom>
          <a:noFill/>
          <a:ln/>
        </p:spPr>
        <p:txBody>
          <a:bodyPr wrap="square" lIns="0" tIns="0" rIns="0" bIns="0" rtlCol="0" anchor="ctr"/>
          <a:lstStyle/>
          <a:p>
            <a:pPr indent="0" marL="0">
              <a:buNone/>
            </a:pPr>
            <a:r>
              <a:rPr lang="en-US" sz="1150" dirty="0">
                <a:solidFill>
                  <a:srgbClr val="22282B"/>
                </a:solidFill>
                <a:latin typeface="Calibri" pitchFamily="34" charset="0"/>
                <a:ea typeface="Calibri" pitchFamily="34" charset="-122"/>
                <a:cs typeface="Calibri" pitchFamily="34" charset="-120"/>
              </a:rPr>
              <a:t>Tier T3. Occupancy is set per archetype on the Assumptions sheet; TROR is the normalised revenue unit from slide 7.</a:t>
            </a:r>
            <a:endParaRPr lang="en-US" sz="1150" dirty="0"/>
          </a:p>
        </p:txBody>
      </p:sp>
      <p:sp>
        <p:nvSpPr>
          <p:cNvPr id="7" name="Shape 5"/>
          <p:cNvSpPr/>
          <p:nvPr/>
        </p:nvSpPr>
        <p:spPr>
          <a:xfrm>
            <a:off x="548640" y="2542032"/>
            <a:ext cx="10424160" cy="786384"/>
          </a:xfrm>
          <a:prstGeom prst="roundRect">
            <a:avLst>
              <a:gd name="adj" fmla="val 6977"/>
            </a:avLst>
          </a:prstGeom>
          <a:solidFill>
            <a:srgbClr val="F7F5F0"/>
          </a:solidFill>
          <a:ln w="9525">
            <a:solidFill>
              <a:srgbClr val="C3D6C8"/>
            </a:solidFill>
            <a:prstDash val="solid"/>
          </a:ln>
        </p:spPr>
      </p:sp>
      <p:sp>
        <p:nvSpPr>
          <p:cNvPr id="8" name="Shape 6"/>
          <p:cNvSpPr/>
          <p:nvPr/>
        </p:nvSpPr>
        <p:spPr>
          <a:xfrm>
            <a:off x="768096" y="2724912"/>
            <a:ext cx="420624" cy="420624"/>
          </a:xfrm>
          <a:prstGeom prst="ellipse">
            <a:avLst/>
          </a:prstGeom>
          <a:solidFill>
            <a:srgbClr val="1E3D2F"/>
          </a:solidFill>
          <a:ln w="12700">
            <a:solidFill>
              <a:srgbClr val="1E3D2F"/>
            </a:solidFill>
            <a:prstDash val="solid"/>
          </a:ln>
        </p:spPr>
      </p:sp>
      <p:sp>
        <p:nvSpPr>
          <p:cNvPr id="9" name="Text 7"/>
          <p:cNvSpPr/>
          <p:nvPr/>
        </p:nvSpPr>
        <p:spPr>
          <a:xfrm>
            <a:off x="768096" y="27249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1353312" y="2679192"/>
            <a:ext cx="2286000" cy="292608"/>
          </a:xfrm>
          <a:prstGeom prst="rect">
            <a:avLst/>
          </a:prstGeom>
          <a:noFill/>
          <a:ln/>
        </p:spPr>
        <p:txBody>
          <a:bodyPr wrap="square" lIns="0" tIns="0" rIns="0" bIns="0" rtlCol="0" anchor="ctr"/>
          <a:lstStyle/>
          <a:p>
            <a:pPr indent="0" marL="0">
              <a:buNone/>
            </a:pPr>
            <a:r>
              <a:rPr lang="en-US" sz="1300" b="1" dirty="0">
                <a:solidFill>
                  <a:srgbClr val="1E3D2F"/>
                </a:solidFill>
                <a:latin typeface="Calibri" pitchFamily="34" charset="0"/>
                <a:ea typeface="Calibri" pitchFamily="34" charset="-122"/>
                <a:cs typeface="Calibri" pitchFamily="34" charset="-120"/>
              </a:rPr>
              <a:t>Pricing database</a:t>
            </a:r>
            <a:endParaRPr lang="en-US" sz="1300" dirty="0"/>
          </a:p>
        </p:txBody>
      </p:sp>
      <p:sp>
        <p:nvSpPr>
          <p:cNvPr id="11" name="Text 9"/>
          <p:cNvSpPr/>
          <p:nvPr/>
        </p:nvSpPr>
        <p:spPr>
          <a:xfrm>
            <a:off x="3749040" y="2670048"/>
            <a:ext cx="6949440" cy="566928"/>
          </a:xfrm>
          <a:prstGeom prst="rect">
            <a:avLst/>
          </a:prstGeom>
          <a:noFill/>
          <a:ln/>
        </p:spPr>
        <p:txBody>
          <a:bodyPr wrap="square" lIns="0" tIns="0" rIns="0" bIns="0" rtlCol="0" anchor="t"/>
          <a:lstStyle/>
          <a:p>
            <a:pPr indent="0" marL="0">
              <a:buNone/>
            </a:pPr>
            <a:r>
              <a:rPr lang="en-US" sz="1150" dirty="0">
                <a:solidFill>
                  <a:srgbClr val="22282B"/>
                </a:solidFill>
                <a:latin typeface="Calibri" pitchFamily="34" charset="0"/>
                <a:ea typeface="Calibri" pitchFamily="34" charset="-122"/>
                <a:cs typeface="Calibri" pitchFamily="34" charset="-120"/>
              </a:rPr>
              <a:t>Published rate cards captured at T1 — single vs double, by category, by programme length, with inclusions.</a:t>
            </a:r>
            <a:endParaRPr lang="en-US" sz="1150" dirty="0"/>
          </a:p>
        </p:txBody>
      </p:sp>
      <p:sp>
        <p:nvSpPr>
          <p:cNvPr id="12" name="Shape 10"/>
          <p:cNvSpPr/>
          <p:nvPr/>
        </p:nvSpPr>
        <p:spPr>
          <a:xfrm>
            <a:off x="548640" y="3401568"/>
            <a:ext cx="10424160" cy="786384"/>
          </a:xfrm>
          <a:prstGeom prst="roundRect">
            <a:avLst>
              <a:gd name="adj" fmla="val 6977"/>
            </a:avLst>
          </a:prstGeom>
          <a:solidFill>
            <a:srgbClr val="F7F5F0"/>
          </a:solidFill>
          <a:ln w="9525">
            <a:solidFill>
              <a:srgbClr val="C3D6C8"/>
            </a:solidFill>
            <a:prstDash val="solid"/>
          </a:ln>
        </p:spPr>
      </p:sp>
      <p:sp>
        <p:nvSpPr>
          <p:cNvPr id="13" name="Shape 11"/>
          <p:cNvSpPr/>
          <p:nvPr/>
        </p:nvSpPr>
        <p:spPr>
          <a:xfrm>
            <a:off x="768096" y="3584448"/>
            <a:ext cx="420624" cy="420624"/>
          </a:xfrm>
          <a:prstGeom prst="ellipse">
            <a:avLst/>
          </a:prstGeom>
          <a:solidFill>
            <a:srgbClr val="1E3D2F"/>
          </a:solidFill>
          <a:ln w="12700">
            <a:solidFill>
              <a:srgbClr val="1E3D2F"/>
            </a:solidFill>
            <a:prstDash val="solid"/>
          </a:ln>
        </p:spPr>
      </p:sp>
      <p:sp>
        <p:nvSpPr>
          <p:cNvPr id="14" name="Text 12"/>
          <p:cNvSpPr/>
          <p:nvPr/>
        </p:nvSpPr>
        <p:spPr>
          <a:xfrm>
            <a:off x="768096" y="358444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1353312" y="3538728"/>
            <a:ext cx="2286000" cy="292608"/>
          </a:xfrm>
          <a:prstGeom prst="rect">
            <a:avLst/>
          </a:prstGeom>
          <a:noFill/>
          <a:ln/>
        </p:spPr>
        <p:txBody>
          <a:bodyPr wrap="square" lIns="0" tIns="0" rIns="0" bIns="0" rtlCol="0" anchor="ctr"/>
          <a:lstStyle/>
          <a:p>
            <a:pPr indent="0" marL="0">
              <a:buNone/>
            </a:pPr>
            <a:r>
              <a:rPr lang="en-US" sz="1300" b="1" dirty="0">
                <a:solidFill>
                  <a:srgbClr val="1E3D2F"/>
                </a:solidFill>
                <a:latin typeface="Calibri" pitchFamily="34" charset="0"/>
                <a:ea typeface="Calibri" pitchFamily="34" charset="-122"/>
                <a:cs typeface="Calibri" pitchFamily="34" charset="-120"/>
              </a:rPr>
              <a:t>Normalise to TROR</a:t>
            </a:r>
            <a:endParaRPr lang="en-US" sz="1300" dirty="0"/>
          </a:p>
        </p:txBody>
      </p:sp>
      <p:sp>
        <p:nvSpPr>
          <p:cNvPr id="16" name="Text 14"/>
          <p:cNvSpPr/>
          <p:nvPr/>
        </p:nvSpPr>
        <p:spPr>
          <a:xfrm>
            <a:off x="3749040" y="3529584"/>
            <a:ext cx="6949440" cy="566928"/>
          </a:xfrm>
          <a:prstGeom prst="rect">
            <a:avLst/>
          </a:prstGeom>
          <a:noFill/>
          <a:ln/>
        </p:spPr>
        <p:txBody>
          <a:bodyPr wrap="square" lIns="0" tIns="0" rIns="0" bIns="0" rtlCol="0" anchor="t"/>
          <a:lstStyle/>
          <a:p>
            <a:pPr indent="0" marL="0">
              <a:buNone/>
            </a:pPr>
            <a:r>
              <a:rPr lang="en-US" sz="1150" dirty="0">
                <a:solidFill>
                  <a:srgbClr val="22282B"/>
                </a:solidFill>
                <a:latin typeface="Calibri" pitchFamily="34" charset="0"/>
                <a:ea typeface="Calibri" pitchFamily="34" charset="-122"/>
                <a:cs typeface="Calibri" pitchFamily="34" charset="-120"/>
              </a:rPr>
              <a:t>Convert bundled and unbundled properties into one comparable unit: all guest revenue ÷ nights stayed.</a:t>
            </a:r>
            <a:endParaRPr lang="en-US" sz="1150" dirty="0"/>
          </a:p>
        </p:txBody>
      </p:sp>
      <p:sp>
        <p:nvSpPr>
          <p:cNvPr id="17" name="Shape 15"/>
          <p:cNvSpPr/>
          <p:nvPr/>
        </p:nvSpPr>
        <p:spPr>
          <a:xfrm>
            <a:off x="548640" y="4261104"/>
            <a:ext cx="10424160" cy="786384"/>
          </a:xfrm>
          <a:prstGeom prst="roundRect">
            <a:avLst>
              <a:gd name="adj" fmla="val 6977"/>
            </a:avLst>
          </a:prstGeom>
          <a:solidFill>
            <a:srgbClr val="F7F5F0"/>
          </a:solidFill>
          <a:ln w="9525">
            <a:solidFill>
              <a:srgbClr val="C3D6C8"/>
            </a:solidFill>
            <a:prstDash val="solid"/>
          </a:ln>
        </p:spPr>
      </p:sp>
      <p:sp>
        <p:nvSpPr>
          <p:cNvPr id="18" name="Shape 16"/>
          <p:cNvSpPr/>
          <p:nvPr/>
        </p:nvSpPr>
        <p:spPr>
          <a:xfrm>
            <a:off x="768096" y="4443984"/>
            <a:ext cx="420624" cy="420624"/>
          </a:xfrm>
          <a:prstGeom prst="ellipse">
            <a:avLst/>
          </a:prstGeom>
          <a:solidFill>
            <a:srgbClr val="1E3D2F"/>
          </a:solidFill>
          <a:ln w="12700">
            <a:solidFill>
              <a:srgbClr val="1E3D2F"/>
            </a:solidFill>
            <a:prstDash val="solid"/>
          </a:ln>
        </p:spPr>
      </p:sp>
      <p:sp>
        <p:nvSpPr>
          <p:cNvPr id="19" name="Text 17"/>
          <p:cNvSpPr/>
          <p:nvPr/>
        </p:nvSpPr>
        <p:spPr>
          <a:xfrm>
            <a:off x="768096" y="44439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1353312" y="4398264"/>
            <a:ext cx="2286000" cy="292608"/>
          </a:xfrm>
          <a:prstGeom prst="rect">
            <a:avLst/>
          </a:prstGeom>
          <a:noFill/>
          <a:ln/>
        </p:spPr>
        <p:txBody>
          <a:bodyPr wrap="square" lIns="0" tIns="0" rIns="0" bIns="0" rtlCol="0" anchor="ctr"/>
          <a:lstStyle/>
          <a:p>
            <a:pPr indent="0" marL="0">
              <a:buNone/>
            </a:pPr>
            <a:r>
              <a:rPr lang="en-US" sz="1300" b="1" dirty="0">
                <a:solidFill>
                  <a:srgbClr val="1E3D2F"/>
                </a:solidFill>
                <a:latin typeface="Calibri" pitchFamily="34" charset="0"/>
                <a:ea typeface="Calibri" pitchFamily="34" charset="-122"/>
                <a:cs typeface="Calibri" pitchFamily="34" charset="-120"/>
              </a:rPr>
              <a:t>Occupancy engine</a:t>
            </a:r>
            <a:endParaRPr lang="en-US" sz="1300" dirty="0"/>
          </a:p>
        </p:txBody>
      </p:sp>
      <p:sp>
        <p:nvSpPr>
          <p:cNvPr id="21" name="Text 19"/>
          <p:cNvSpPr/>
          <p:nvPr/>
        </p:nvSpPr>
        <p:spPr>
          <a:xfrm>
            <a:off x="3749040" y="4389120"/>
            <a:ext cx="6949440" cy="566928"/>
          </a:xfrm>
          <a:prstGeom prst="rect">
            <a:avLst/>
          </a:prstGeom>
          <a:noFill/>
          <a:ln/>
        </p:spPr>
        <p:txBody>
          <a:bodyPr wrap="square" lIns="0" tIns="0" rIns="0" bIns="0" rtlCol="0" anchor="t"/>
          <a:lstStyle/>
          <a:p>
            <a:pPr indent="0" marL="0">
              <a:buNone/>
            </a:pPr>
            <a:r>
              <a:rPr lang="en-US" sz="1150" dirty="0">
                <a:solidFill>
                  <a:srgbClr val="22282B"/>
                </a:solidFill>
                <a:latin typeface="Calibri" pitchFamily="34" charset="0"/>
                <a:ea typeface="Calibri" pitchFamily="34" charset="-122"/>
                <a:cs typeface="Calibri" pitchFamily="34" charset="-120"/>
              </a:rPr>
              <a:t>Triangulate four methods: forward-availability sampling, review velocity per key, stated occupancy in press, regional seasonality.</a:t>
            </a:r>
            <a:endParaRPr lang="en-US" sz="1150" dirty="0"/>
          </a:p>
        </p:txBody>
      </p:sp>
      <p:sp>
        <p:nvSpPr>
          <p:cNvPr id="22" name="Shape 20"/>
          <p:cNvSpPr/>
          <p:nvPr/>
        </p:nvSpPr>
        <p:spPr>
          <a:xfrm>
            <a:off x="548640" y="5120640"/>
            <a:ext cx="10424160" cy="786384"/>
          </a:xfrm>
          <a:prstGeom prst="roundRect">
            <a:avLst>
              <a:gd name="adj" fmla="val 6977"/>
            </a:avLst>
          </a:prstGeom>
          <a:solidFill>
            <a:srgbClr val="F7F5F0"/>
          </a:solidFill>
          <a:ln w="9525">
            <a:solidFill>
              <a:srgbClr val="C3D6C8"/>
            </a:solidFill>
            <a:prstDash val="solid"/>
          </a:ln>
        </p:spPr>
      </p:sp>
      <p:sp>
        <p:nvSpPr>
          <p:cNvPr id="23" name="Shape 21"/>
          <p:cNvSpPr/>
          <p:nvPr/>
        </p:nvSpPr>
        <p:spPr>
          <a:xfrm>
            <a:off x="768096" y="5303520"/>
            <a:ext cx="420624" cy="420624"/>
          </a:xfrm>
          <a:prstGeom prst="ellipse">
            <a:avLst/>
          </a:prstGeom>
          <a:solidFill>
            <a:srgbClr val="1E3D2F"/>
          </a:solidFill>
          <a:ln w="12700">
            <a:solidFill>
              <a:srgbClr val="1E3D2F"/>
            </a:solidFill>
            <a:prstDash val="solid"/>
          </a:ln>
        </p:spPr>
      </p:sp>
      <p:sp>
        <p:nvSpPr>
          <p:cNvPr id="24" name="Text 22"/>
          <p:cNvSpPr/>
          <p:nvPr/>
        </p:nvSpPr>
        <p:spPr>
          <a:xfrm>
            <a:off x="768096" y="53035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1353312" y="5257800"/>
            <a:ext cx="2286000" cy="292608"/>
          </a:xfrm>
          <a:prstGeom prst="rect">
            <a:avLst/>
          </a:prstGeom>
          <a:noFill/>
          <a:ln/>
        </p:spPr>
        <p:txBody>
          <a:bodyPr wrap="square" lIns="0" tIns="0" rIns="0" bIns="0" rtlCol="0" anchor="ctr"/>
          <a:lstStyle/>
          <a:p>
            <a:pPr indent="0" marL="0">
              <a:buNone/>
            </a:pPr>
            <a:r>
              <a:rPr lang="en-US" sz="1300" b="1" dirty="0">
                <a:solidFill>
                  <a:srgbClr val="1E3D2F"/>
                </a:solidFill>
                <a:latin typeface="Calibri" pitchFamily="34" charset="0"/>
                <a:ea typeface="Calibri" pitchFamily="34" charset="-122"/>
                <a:cs typeface="Calibri" pitchFamily="34" charset="-120"/>
              </a:rPr>
              <a:t>Calibrate</a:t>
            </a:r>
            <a:endParaRPr lang="en-US" sz="1300" dirty="0"/>
          </a:p>
        </p:txBody>
      </p:sp>
      <p:sp>
        <p:nvSpPr>
          <p:cNvPr id="26" name="Text 24"/>
          <p:cNvSpPr/>
          <p:nvPr/>
        </p:nvSpPr>
        <p:spPr>
          <a:xfrm>
            <a:off x="3749040" y="5248656"/>
            <a:ext cx="6949440" cy="566928"/>
          </a:xfrm>
          <a:prstGeom prst="rect">
            <a:avLst/>
          </a:prstGeom>
          <a:noFill/>
          <a:ln/>
        </p:spPr>
        <p:txBody>
          <a:bodyPr wrap="square" lIns="0" tIns="0" rIns="0" bIns="0" rtlCol="0" anchor="t"/>
          <a:lstStyle/>
          <a:p>
            <a:pPr indent="0" marL="0">
              <a:buNone/>
            </a:pPr>
            <a:r>
              <a:rPr lang="en-US" sz="1150" dirty="0">
                <a:solidFill>
                  <a:srgbClr val="22282B"/>
                </a:solidFill>
                <a:latin typeface="Calibri" pitchFamily="34" charset="0"/>
                <a:ea typeface="Calibri" pitchFamily="34" charset="-122"/>
                <a:cs typeface="Calibri" pitchFamily="34" charset="-120"/>
              </a:rPr>
              <a:t>Run the model against Atmantan's disclosed ₹76.7cr. The residual sets the error band published on every other estimate.</a:t>
            </a:r>
            <a:endParaRPr lang="en-US" sz="1150" dirty="0"/>
          </a:p>
        </p:txBody>
      </p:sp>
      <p:sp>
        <p:nvSpPr>
          <p:cNvPr id="27" name="Text 25"/>
          <p:cNvSpPr/>
          <p:nvPr/>
        </p:nvSpPr>
        <p:spPr>
          <a:xfrm>
            <a:off x="548640" y="6382512"/>
            <a:ext cx="11064240" cy="310896"/>
          </a:xfrm>
          <a:prstGeom prst="rect">
            <a:avLst/>
          </a:prstGeom>
          <a:noFill/>
          <a:ln/>
        </p:spPr>
        <p:txBody>
          <a:bodyPr wrap="square" lIns="0" tIns="0" rIns="0" bIns="0" rtlCol="0" anchor="ctr"/>
          <a:lstStyle/>
          <a:p>
            <a:pPr indent="0" marL="0">
              <a:buNone/>
            </a:pPr>
            <a:r>
              <a:rPr lang="en-US" sz="900" i="1" dirty="0">
                <a:solidFill>
                  <a:srgbClr val="6B7671"/>
                </a:solidFill>
                <a:latin typeface="Calibri" pitchFamily="34" charset="0"/>
                <a:ea typeface="Calibri" pitchFamily="34" charset="-122"/>
                <a:cs typeface="Calibri" pitchFamily="34" charset="-120"/>
              </a:rPr>
              <a:t>Full model, formulas and per-property inputs: India_Wellness_Retreats_Master_Workbook.xlsx</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1064240" cy="237744"/>
          </a:xfrm>
          <a:prstGeom prst="rect">
            <a:avLst/>
          </a:prstGeom>
          <a:noFill/>
          <a:ln/>
        </p:spPr>
        <p:txBody>
          <a:bodyPr wrap="square" lIns="0" tIns="0" rIns="0" bIns="0" rtlCol="0" anchor="ctr"/>
          <a:lstStyle/>
          <a:p>
            <a:pPr indent="0" marL="0">
              <a:buNone/>
            </a:pPr>
            <a:r>
              <a:rPr lang="en-US" sz="1100" b="1" spc="200" kern="0" dirty="0">
                <a:solidFill>
                  <a:srgbClr val="7FA88B"/>
                </a:solidFill>
                <a:latin typeface="Calibri" pitchFamily="34" charset="0"/>
                <a:ea typeface="Calibri" pitchFamily="34" charset="-122"/>
                <a:cs typeface="Calibri" pitchFamily="34" charset="-120"/>
              </a:rPr>
              <a:t>GAP REGISTER</a:t>
            </a:r>
            <a:endParaRPr lang="en-US" sz="1100" dirty="0"/>
          </a:p>
        </p:txBody>
      </p:sp>
      <p:sp>
        <p:nvSpPr>
          <p:cNvPr id="3" name="Text 1"/>
          <p:cNvSpPr/>
          <p:nvPr/>
        </p:nvSpPr>
        <p:spPr>
          <a:xfrm>
            <a:off x="548640" y="603504"/>
            <a:ext cx="11064240" cy="731520"/>
          </a:xfrm>
          <a:prstGeom prst="rect">
            <a:avLst/>
          </a:prstGeom>
          <a:noFill/>
          <a:ln/>
        </p:spPr>
        <p:txBody>
          <a:bodyPr wrap="square" lIns="0" tIns="0" rIns="0" bIns="0" rtlCol="0" anchor="t"/>
          <a:lstStyle/>
          <a:p>
            <a:pPr indent="0" marL="0">
              <a:buNone/>
            </a:pPr>
            <a:r>
              <a:rPr lang="en-US" sz="3200" b="1" dirty="0">
                <a:solidFill>
                  <a:srgbClr val="1E3D2F"/>
                </a:solidFill>
                <a:latin typeface="Cambria" pitchFamily="34" charset="0"/>
                <a:ea typeface="Cambria" pitchFamily="34" charset="-122"/>
                <a:cs typeface="Cambria" pitchFamily="34" charset="-120"/>
              </a:rPr>
              <a:t>What is still missing — stated plainly</a:t>
            </a:r>
            <a:endParaRPr lang="en-US" sz="3200" dirty="0"/>
          </a:p>
        </p:txBody>
      </p:sp>
      <p:sp>
        <p:nvSpPr>
          <p:cNvPr id="4" name="Text 2"/>
          <p:cNvSpPr/>
          <p:nvPr/>
        </p:nvSpPr>
        <p:spPr>
          <a:xfrm>
            <a:off x="548640" y="1481328"/>
            <a:ext cx="10424160" cy="365760"/>
          </a:xfrm>
          <a:prstGeom prst="rect">
            <a:avLst/>
          </a:prstGeom>
          <a:noFill/>
          <a:ln/>
        </p:spPr>
        <p:txBody>
          <a:bodyPr wrap="square" lIns="0" tIns="0" rIns="0" bIns="0" rtlCol="0" anchor="ctr"/>
          <a:lstStyle/>
          <a:p>
            <a:pPr indent="0" marL="0">
              <a:buNone/>
            </a:pPr>
            <a:r>
              <a:rPr lang="en-US" sz="1500" dirty="0">
                <a:solidFill>
                  <a:srgbClr val="22282B"/>
                </a:solidFill>
                <a:latin typeface="Calibri" pitchFamily="34" charset="0"/>
                <a:ea typeface="Calibri" pitchFamily="34" charset="-122"/>
                <a:cs typeface="Calibri" pitchFamily="34" charset="-120"/>
              </a:rPr>
              <a:t>This is a v1 build. Being explicit about the holes is what makes the rest of it usable.</a:t>
            </a:r>
            <a:endParaRPr lang="en-US" sz="1500" dirty="0"/>
          </a:p>
        </p:txBody>
      </p:sp>
      <p:sp>
        <p:nvSpPr>
          <p:cNvPr id="5" name="Shape 3"/>
          <p:cNvSpPr/>
          <p:nvPr/>
        </p:nvSpPr>
        <p:spPr>
          <a:xfrm>
            <a:off x="548640" y="2057400"/>
            <a:ext cx="10424160" cy="768096"/>
          </a:xfrm>
          <a:prstGeom prst="roundRect">
            <a:avLst>
              <a:gd name="adj" fmla="val 7143"/>
            </a:avLst>
          </a:prstGeom>
          <a:solidFill>
            <a:srgbClr val="F7F5F0"/>
          </a:solidFill>
          <a:ln w="9525">
            <a:solidFill>
              <a:srgbClr val="C3D6C8"/>
            </a:solidFill>
            <a:prstDash val="solid"/>
          </a:ln>
        </p:spPr>
      </p:sp>
      <p:sp>
        <p:nvSpPr>
          <p:cNvPr id="6" name="Shape 4"/>
          <p:cNvSpPr/>
          <p:nvPr/>
        </p:nvSpPr>
        <p:spPr>
          <a:xfrm>
            <a:off x="786384" y="2313432"/>
            <a:ext cx="256032" cy="256032"/>
          </a:xfrm>
          <a:prstGeom prst="ellipse">
            <a:avLst/>
          </a:prstGeom>
          <a:solidFill>
            <a:srgbClr val="A63A2E"/>
          </a:solidFill>
          <a:ln w="12700">
            <a:solidFill>
              <a:srgbClr val="A63A2E"/>
            </a:solidFill>
            <a:prstDash val="solid"/>
          </a:ln>
        </p:spPr>
      </p:sp>
      <p:sp>
        <p:nvSpPr>
          <p:cNvPr id="7" name="Text 5"/>
          <p:cNvSpPr/>
          <p:nvPr/>
        </p:nvSpPr>
        <p:spPr>
          <a:xfrm>
            <a:off x="1207008" y="2167128"/>
            <a:ext cx="2286000" cy="274320"/>
          </a:xfrm>
          <a:prstGeom prst="rect">
            <a:avLst/>
          </a:prstGeom>
          <a:noFill/>
          <a:ln/>
        </p:spPr>
        <p:txBody>
          <a:bodyPr wrap="square" lIns="0" tIns="0" rIns="0" bIns="0" rtlCol="0" anchor="ctr"/>
          <a:lstStyle/>
          <a:p>
            <a:pPr indent="0" marL="0">
              <a:buNone/>
            </a:pPr>
            <a:r>
              <a:rPr lang="en-US" sz="1300" b="1" dirty="0">
                <a:solidFill>
                  <a:srgbClr val="1E3D2F"/>
                </a:solidFill>
                <a:latin typeface="Calibri" pitchFamily="34" charset="0"/>
                <a:ea typeface="Calibri" pitchFamily="34" charset="-122"/>
                <a:cs typeface="Calibri" pitchFamily="34" charset="-120"/>
              </a:rPr>
              <a:t>Key counts</a:t>
            </a:r>
            <a:endParaRPr lang="en-US" sz="1300" dirty="0"/>
          </a:p>
        </p:txBody>
      </p:sp>
      <p:sp>
        <p:nvSpPr>
          <p:cNvPr id="8" name="Text 6"/>
          <p:cNvSpPr/>
          <p:nvPr/>
        </p:nvSpPr>
        <p:spPr>
          <a:xfrm>
            <a:off x="1207008" y="2459736"/>
            <a:ext cx="2286000" cy="256032"/>
          </a:xfrm>
          <a:prstGeom prst="rect">
            <a:avLst/>
          </a:prstGeom>
          <a:noFill/>
          <a:ln/>
        </p:spPr>
        <p:txBody>
          <a:bodyPr wrap="square" lIns="0" tIns="0" rIns="0" bIns="0" rtlCol="0" anchor="ctr"/>
          <a:lstStyle/>
          <a:p>
            <a:pPr indent="0" marL="0">
              <a:buNone/>
            </a:pPr>
            <a:r>
              <a:rPr lang="en-US" sz="1050" b="1" dirty="0">
                <a:solidFill>
                  <a:srgbClr val="A63A2E"/>
                </a:solidFill>
                <a:latin typeface="Calibri" pitchFamily="34" charset="0"/>
                <a:ea typeface="Calibri" pitchFamily="34" charset="-122"/>
                <a:cs typeface="Calibri" pitchFamily="34" charset="-120"/>
              </a:rPr>
              <a:t>10 of 24 verified</a:t>
            </a:r>
            <a:endParaRPr lang="en-US" sz="1050" dirty="0"/>
          </a:p>
        </p:txBody>
      </p:sp>
      <p:sp>
        <p:nvSpPr>
          <p:cNvPr id="9" name="Text 7"/>
          <p:cNvSpPr/>
          <p:nvPr/>
        </p:nvSpPr>
        <p:spPr>
          <a:xfrm>
            <a:off x="3657600" y="2176272"/>
            <a:ext cx="7040880" cy="566928"/>
          </a:xfrm>
          <a:prstGeom prst="rect">
            <a:avLst/>
          </a:prstGeom>
          <a:noFill/>
          <a:ln/>
        </p:spPr>
        <p:txBody>
          <a:bodyPr wrap="square" lIns="0" tIns="0" rIns="0" bIns="0" rtlCol="0" anchor="t"/>
          <a:lstStyle/>
          <a:p>
            <a:pPr indent="0" marL="0">
              <a:buNone/>
            </a:pPr>
            <a:r>
              <a:rPr lang="en-US" sz="1100" dirty="0">
                <a:solidFill>
                  <a:srgbClr val="22282B"/>
                </a:solidFill>
                <a:latin typeface="Calibri" pitchFamily="34" charset="0"/>
                <a:ea typeface="Calibri" pitchFamily="34" charset="-122"/>
                <a:cs typeface="Calibri" pitchFamily="34" charset="-120"/>
              </a:rPr>
              <a:t>Dharana, Kalari, Vaidyagrama, Amal Tamara, Somatheeram, Carnoustie, Nimba, Arogyadhama, Isha, Kaivalyadhama, Fort Barwara, SwaSwara, Shreyas, Naad outstanding.</a:t>
            </a:r>
            <a:endParaRPr lang="en-US" sz="1100" dirty="0"/>
          </a:p>
        </p:txBody>
      </p:sp>
      <p:sp>
        <p:nvSpPr>
          <p:cNvPr id="10" name="Shape 8"/>
          <p:cNvSpPr/>
          <p:nvPr/>
        </p:nvSpPr>
        <p:spPr>
          <a:xfrm>
            <a:off x="548640" y="2898648"/>
            <a:ext cx="10424160" cy="768096"/>
          </a:xfrm>
          <a:prstGeom prst="roundRect">
            <a:avLst>
              <a:gd name="adj" fmla="val 7143"/>
            </a:avLst>
          </a:prstGeom>
          <a:solidFill>
            <a:srgbClr val="F7F5F0"/>
          </a:solidFill>
          <a:ln w="9525">
            <a:solidFill>
              <a:srgbClr val="C3D6C8"/>
            </a:solidFill>
            <a:prstDash val="solid"/>
          </a:ln>
        </p:spPr>
      </p:sp>
      <p:sp>
        <p:nvSpPr>
          <p:cNvPr id="11" name="Shape 9"/>
          <p:cNvSpPr/>
          <p:nvPr/>
        </p:nvSpPr>
        <p:spPr>
          <a:xfrm>
            <a:off x="786384" y="3154680"/>
            <a:ext cx="256032" cy="256032"/>
          </a:xfrm>
          <a:prstGeom prst="ellipse">
            <a:avLst/>
          </a:prstGeom>
          <a:solidFill>
            <a:srgbClr val="A63A2E"/>
          </a:solidFill>
          <a:ln w="12700">
            <a:solidFill>
              <a:srgbClr val="A63A2E"/>
            </a:solidFill>
            <a:prstDash val="solid"/>
          </a:ln>
        </p:spPr>
      </p:sp>
      <p:sp>
        <p:nvSpPr>
          <p:cNvPr id="12" name="Text 10"/>
          <p:cNvSpPr/>
          <p:nvPr/>
        </p:nvSpPr>
        <p:spPr>
          <a:xfrm>
            <a:off x="1207008" y="3008376"/>
            <a:ext cx="2286000" cy="274320"/>
          </a:xfrm>
          <a:prstGeom prst="rect">
            <a:avLst/>
          </a:prstGeom>
          <a:noFill/>
          <a:ln/>
        </p:spPr>
        <p:txBody>
          <a:bodyPr wrap="square" lIns="0" tIns="0" rIns="0" bIns="0" rtlCol="0" anchor="ctr"/>
          <a:lstStyle/>
          <a:p>
            <a:pPr indent="0" marL="0">
              <a:buNone/>
            </a:pPr>
            <a:r>
              <a:rPr lang="en-US" sz="1300" b="1" dirty="0">
                <a:solidFill>
                  <a:srgbClr val="1E3D2F"/>
                </a:solidFill>
                <a:latin typeface="Calibri" pitchFamily="34" charset="0"/>
                <a:ea typeface="Calibri" pitchFamily="34" charset="-122"/>
                <a:cs typeface="Calibri" pitchFamily="34" charset="-120"/>
              </a:rPr>
              <a:t>Filed financials</a:t>
            </a:r>
            <a:endParaRPr lang="en-US" sz="1300" dirty="0"/>
          </a:p>
        </p:txBody>
      </p:sp>
      <p:sp>
        <p:nvSpPr>
          <p:cNvPr id="13" name="Text 11"/>
          <p:cNvSpPr/>
          <p:nvPr/>
        </p:nvSpPr>
        <p:spPr>
          <a:xfrm>
            <a:off x="1207008" y="3300984"/>
            <a:ext cx="2286000" cy="256032"/>
          </a:xfrm>
          <a:prstGeom prst="rect">
            <a:avLst/>
          </a:prstGeom>
          <a:noFill/>
          <a:ln/>
        </p:spPr>
        <p:txBody>
          <a:bodyPr wrap="square" lIns="0" tIns="0" rIns="0" bIns="0" rtlCol="0" anchor="ctr"/>
          <a:lstStyle/>
          <a:p>
            <a:pPr indent="0" marL="0">
              <a:buNone/>
            </a:pPr>
            <a:r>
              <a:rPr lang="en-US" sz="1050" b="1" dirty="0">
                <a:solidFill>
                  <a:srgbClr val="A63A2E"/>
                </a:solidFill>
                <a:latin typeface="Calibri" pitchFamily="34" charset="0"/>
                <a:ea typeface="Calibri" pitchFamily="34" charset="-122"/>
                <a:cs typeface="Calibri" pitchFamily="34" charset="-120"/>
              </a:rPr>
              <a:t>1 of 24</a:t>
            </a:r>
            <a:endParaRPr lang="en-US" sz="1050" dirty="0"/>
          </a:p>
        </p:txBody>
      </p:sp>
      <p:sp>
        <p:nvSpPr>
          <p:cNvPr id="14" name="Text 12"/>
          <p:cNvSpPr/>
          <p:nvPr/>
        </p:nvSpPr>
        <p:spPr>
          <a:xfrm>
            <a:off x="3657600" y="3017520"/>
            <a:ext cx="7040880" cy="566928"/>
          </a:xfrm>
          <a:prstGeom prst="rect">
            <a:avLst/>
          </a:prstGeom>
          <a:noFill/>
          <a:ln/>
        </p:spPr>
        <p:txBody>
          <a:bodyPr wrap="square" lIns="0" tIns="0" rIns="0" bIns="0" rtlCol="0" anchor="t"/>
          <a:lstStyle/>
          <a:p>
            <a:pPr indent="0" marL="0">
              <a:buNone/>
            </a:pPr>
            <a:r>
              <a:rPr lang="en-US" sz="1100" dirty="0">
                <a:solidFill>
                  <a:srgbClr val="22282B"/>
                </a:solidFill>
                <a:latin typeface="Calibri" pitchFamily="34" charset="0"/>
                <a:ea typeface="Calibri" pitchFamily="34" charset="-122"/>
                <a:cs typeface="Calibri" pitchFamily="34" charset="-120"/>
              </a:rPr>
              <a:t>Only Atmantan, via the IHCL transaction. MCA/RoC filings were not accessible in this environment — they would convert perhaps 8–12 properties from T3 to T1.</a:t>
            </a:r>
            <a:endParaRPr lang="en-US" sz="1100" dirty="0"/>
          </a:p>
        </p:txBody>
      </p:sp>
      <p:sp>
        <p:nvSpPr>
          <p:cNvPr id="15" name="Shape 13"/>
          <p:cNvSpPr/>
          <p:nvPr/>
        </p:nvSpPr>
        <p:spPr>
          <a:xfrm>
            <a:off x="548640" y="3739896"/>
            <a:ext cx="10424160" cy="768096"/>
          </a:xfrm>
          <a:prstGeom prst="roundRect">
            <a:avLst>
              <a:gd name="adj" fmla="val 7143"/>
            </a:avLst>
          </a:prstGeom>
          <a:solidFill>
            <a:srgbClr val="F7F5F0"/>
          </a:solidFill>
          <a:ln w="9525">
            <a:solidFill>
              <a:srgbClr val="C3D6C8"/>
            </a:solidFill>
            <a:prstDash val="solid"/>
          </a:ln>
        </p:spPr>
      </p:sp>
      <p:sp>
        <p:nvSpPr>
          <p:cNvPr id="16" name="Shape 14"/>
          <p:cNvSpPr/>
          <p:nvPr/>
        </p:nvSpPr>
        <p:spPr>
          <a:xfrm>
            <a:off x="786384" y="3995928"/>
            <a:ext cx="256032" cy="256032"/>
          </a:xfrm>
          <a:prstGeom prst="ellipse">
            <a:avLst/>
          </a:prstGeom>
          <a:solidFill>
            <a:srgbClr val="C9A227"/>
          </a:solidFill>
          <a:ln w="12700">
            <a:solidFill>
              <a:srgbClr val="C9A227"/>
            </a:solidFill>
            <a:prstDash val="solid"/>
          </a:ln>
        </p:spPr>
      </p:sp>
      <p:sp>
        <p:nvSpPr>
          <p:cNvPr id="17" name="Text 15"/>
          <p:cNvSpPr/>
          <p:nvPr/>
        </p:nvSpPr>
        <p:spPr>
          <a:xfrm>
            <a:off x="1207008" y="3849624"/>
            <a:ext cx="2286000" cy="274320"/>
          </a:xfrm>
          <a:prstGeom prst="rect">
            <a:avLst/>
          </a:prstGeom>
          <a:noFill/>
          <a:ln/>
        </p:spPr>
        <p:txBody>
          <a:bodyPr wrap="square" lIns="0" tIns="0" rIns="0" bIns="0" rtlCol="0" anchor="ctr"/>
          <a:lstStyle/>
          <a:p>
            <a:pPr indent="0" marL="0">
              <a:buNone/>
            </a:pPr>
            <a:r>
              <a:rPr lang="en-US" sz="1300" b="1" dirty="0">
                <a:solidFill>
                  <a:srgbClr val="1E3D2F"/>
                </a:solidFill>
                <a:latin typeface="Calibri" pitchFamily="34" charset="0"/>
                <a:ea typeface="Calibri" pitchFamily="34" charset="-122"/>
                <a:cs typeface="Calibri" pitchFamily="34" charset="-120"/>
              </a:rPr>
              <a:t>Occupancy</a:t>
            </a:r>
            <a:endParaRPr lang="en-US" sz="1300" dirty="0"/>
          </a:p>
        </p:txBody>
      </p:sp>
      <p:sp>
        <p:nvSpPr>
          <p:cNvPr id="18" name="Text 16"/>
          <p:cNvSpPr/>
          <p:nvPr/>
        </p:nvSpPr>
        <p:spPr>
          <a:xfrm>
            <a:off x="1207008" y="4142232"/>
            <a:ext cx="2286000" cy="256032"/>
          </a:xfrm>
          <a:prstGeom prst="rect">
            <a:avLst/>
          </a:prstGeom>
          <a:noFill/>
          <a:ln/>
        </p:spPr>
        <p:txBody>
          <a:bodyPr wrap="square" lIns="0" tIns="0" rIns="0" bIns="0" rtlCol="0" anchor="ctr"/>
          <a:lstStyle/>
          <a:p>
            <a:pPr indent="0" marL="0">
              <a:buNone/>
            </a:pPr>
            <a:r>
              <a:rPr lang="en-US" sz="1050" b="1" dirty="0">
                <a:solidFill>
                  <a:srgbClr val="C9A227"/>
                </a:solidFill>
                <a:latin typeface="Calibri" pitchFamily="34" charset="0"/>
                <a:ea typeface="Calibri" pitchFamily="34" charset="-122"/>
                <a:cs typeface="Calibri" pitchFamily="34" charset="-120"/>
              </a:rPr>
              <a:t>0 of 24 measured</a:t>
            </a:r>
            <a:endParaRPr lang="en-US" sz="1050" dirty="0"/>
          </a:p>
        </p:txBody>
      </p:sp>
      <p:sp>
        <p:nvSpPr>
          <p:cNvPr id="19" name="Text 17"/>
          <p:cNvSpPr/>
          <p:nvPr/>
        </p:nvSpPr>
        <p:spPr>
          <a:xfrm>
            <a:off x="3657600" y="3858768"/>
            <a:ext cx="7040880" cy="566928"/>
          </a:xfrm>
          <a:prstGeom prst="rect">
            <a:avLst/>
          </a:prstGeom>
          <a:noFill/>
          <a:ln/>
        </p:spPr>
        <p:txBody>
          <a:bodyPr wrap="square" lIns="0" tIns="0" rIns="0" bIns="0" rtlCol="0" anchor="t"/>
          <a:lstStyle/>
          <a:p>
            <a:pPr indent="0" marL="0">
              <a:buNone/>
            </a:pPr>
            <a:r>
              <a:rPr lang="en-US" sz="1100" dirty="0">
                <a:solidFill>
                  <a:srgbClr val="22282B"/>
                </a:solidFill>
                <a:latin typeface="Calibri" pitchFamily="34" charset="0"/>
                <a:ea typeface="Calibri" pitchFamily="34" charset="-122"/>
                <a:cs typeface="Calibri" pitchFamily="34" charset="-120"/>
              </a:rPr>
              <a:t>No property publishes it. Availability sampling has not yet been run — currently T4 archetype assumptions.</a:t>
            </a:r>
            <a:endParaRPr lang="en-US" sz="1100" dirty="0"/>
          </a:p>
        </p:txBody>
      </p:sp>
      <p:sp>
        <p:nvSpPr>
          <p:cNvPr id="20" name="Shape 18"/>
          <p:cNvSpPr/>
          <p:nvPr/>
        </p:nvSpPr>
        <p:spPr>
          <a:xfrm>
            <a:off x="548640" y="4581144"/>
            <a:ext cx="10424160" cy="768096"/>
          </a:xfrm>
          <a:prstGeom prst="roundRect">
            <a:avLst>
              <a:gd name="adj" fmla="val 7143"/>
            </a:avLst>
          </a:prstGeom>
          <a:solidFill>
            <a:srgbClr val="F7F5F0"/>
          </a:solidFill>
          <a:ln w="9525">
            <a:solidFill>
              <a:srgbClr val="C3D6C8"/>
            </a:solidFill>
            <a:prstDash val="solid"/>
          </a:ln>
        </p:spPr>
      </p:sp>
      <p:sp>
        <p:nvSpPr>
          <p:cNvPr id="21" name="Shape 19"/>
          <p:cNvSpPr/>
          <p:nvPr/>
        </p:nvSpPr>
        <p:spPr>
          <a:xfrm>
            <a:off x="786384" y="4837176"/>
            <a:ext cx="256032" cy="256032"/>
          </a:xfrm>
          <a:prstGeom prst="ellipse">
            <a:avLst/>
          </a:prstGeom>
          <a:solidFill>
            <a:srgbClr val="7FA88B"/>
          </a:solidFill>
          <a:ln w="12700">
            <a:solidFill>
              <a:srgbClr val="7FA88B"/>
            </a:solidFill>
            <a:prstDash val="solid"/>
          </a:ln>
        </p:spPr>
      </p:sp>
      <p:sp>
        <p:nvSpPr>
          <p:cNvPr id="22" name="Text 20"/>
          <p:cNvSpPr/>
          <p:nvPr/>
        </p:nvSpPr>
        <p:spPr>
          <a:xfrm>
            <a:off x="1207008" y="4690872"/>
            <a:ext cx="2286000" cy="274320"/>
          </a:xfrm>
          <a:prstGeom prst="rect">
            <a:avLst/>
          </a:prstGeom>
          <a:noFill/>
          <a:ln/>
        </p:spPr>
        <p:txBody>
          <a:bodyPr wrap="square" lIns="0" tIns="0" rIns="0" bIns="0" rtlCol="0" anchor="ctr"/>
          <a:lstStyle/>
          <a:p>
            <a:pPr indent="0" marL="0">
              <a:buNone/>
            </a:pPr>
            <a:r>
              <a:rPr lang="en-US" sz="1300" b="1" dirty="0">
                <a:solidFill>
                  <a:srgbClr val="1E3D2F"/>
                </a:solidFill>
                <a:latin typeface="Calibri" pitchFamily="34" charset="0"/>
                <a:ea typeface="Calibri" pitchFamily="34" charset="-122"/>
                <a:cs typeface="Calibri" pitchFamily="34" charset="-120"/>
              </a:rPr>
              <a:t>Pricing</a:t>
            </a:r>
            <a:endParaRPr lang="en-US" sz="1300" dirty="0"/>
          </a:p>
        </p:txBody>
      </p:sp>
      <p:sp>
        <p:nvSpPr>
          <p:cNvPr id="23" name="Text 21"/>
          <p:cNvSpPr/>
          <p:nvPr/>
        </p:nvSpPr>
        <p:spPr>
          <a:xfrm>
            <a:off x="1207008" y="4983480"/>
            <a:ext cx="2286000" cy="256032"/>
          </a:xfrm>
          <a:prstGeom prst="rect">
            <a:avLst/>
          </a:prstGeom>
          <a:noFill/>
          <a:ln/>
        </p:spPr>
        <p:txBody>
          <a:bodyPr wrap="square" lIns="0" tIns="0" rIns="0" bIns="0" rtlCol="0" anchor="ctr"/>
          <a:lstStyle/>
          <a:p>
            <a:pPr indent="0" marL="0">
              <a:buNone/>
            </a:pPr>
            <a:r>
              <a:rPr lang="en-US" sz="1050" b="1" dirty="0">
                <a:solidFill>
                  <a:srgbClr val="7FA88B"/>
                </a:solidFill>
                <a:latin typeface="Calibri" pitchFamily="34" charset="0"/>
                <a:ea typeface="Calibri" pitchFamily="34" charset="-122"/>
                <a:cs typeface="Calibri" pitchFamily="34" charset="-120"/>
              </a:rPr>
              <a:t>9 of 24 captured</a:t>
            </a:r>
            <a:endParaRPr lang="en-US" sz="1050" dirty="0"/>
          </a:p>
        </p:txBody>
      </p:sp>
      <p:sp>
        <p:nvSpPr>
          <p:cNvPr id="24" name="Text 22"/>
          <p:cNvSpPr/>
          <p:nvPr/>
        </p:nvSpPr>
        <p:spPr>
          <a:xfrm>
            <a:off x="3657600" y="4700016"/>
            <a:ext cx="7040880" cy="566928"/>
          </a:xfrm>
          <a:prstGeom prst="rect">
            <a:avLst/>
          </a:prstGeom>
          <a:noFill/>
          <a:ln/>
        </p:spPr>
        <p:txBody>
          <a:bodyPr wrap="square" lIns="0" tIns="0" rIns="0" bIns="0" rtlCol="0" anchor="t"/>
          <a:lstStyle/>
          <a:p>
            <a:pPr indent="0" marL="0">
              <a:buNone/>
            </a:pPr>
            <a:r>
              <a:rPr lang="en-US" sz="1100" dirty="0">
                <a:solidFill>
                  <a:srgbClr val="22282B"/>
                </a:solidFill>
                <a:latin typeface="Calibri" pitchFamily="34" charset="0"/>
                <a:ea typeface="Calibri" pitchFamily="34" charset="-122"/>
                <a:cs typeface="Calibri" pitchFamily="34" charset="-120"/>
              </a:rPr>
              <a:t>The strongest data in the build. Remaining rate cards are obtainable from company sites.</a:t>
            </a:r>
            <a:endParaRPr lang="en-US" sz="1100" dirty="0"/>
          </a:p>
        </p:txBody>
      </p:sp>
      <p:sp>
        <p:nvSpPr>
          <p:cNvPr id="25" name="Shape 23"/>
          <p:cNvSpPr/>
          <p:nvPr/>
        </p:nvSpPr>
        <p:spPr>
          <a:xfrm>
            <a:off x="548640" y="5422392"/>
            <a:ext cx="10424160" cy="768096"/>
          </a:xfrm>
          <a:prstGeom prst="roundRect">
            <a:avLst>
              <a:gd name="adj" fmla="val 7143"/>
            </a:avLst>
          </a:prstGeom>
          <a:solidFill>
            <a:srgbClr val="F7F5F0"/>
          </a:solidFill>
          <a:ln w="9525">
            <a:solidFill>
              <a:srgbClr val="C3D6C8"/>
            </a:solidFill>
            <a:prstDash val="solid"/>
          </a:ln>
        </p:spPr>
      </p:sp>
      <p:sp>
        <p:nvSpPr>
          <p:cNvPr id="26" name="Shape 24"/>
          <p:cNvSpPr/>
          <p:nvPr/>
        </p:nvSpPr>
        <p:spPr>
          <a:xfrm>
            <a:off x="786384" y="5678424"/>
            <a:ext cx="256032" cy="256032"/>
          </a:xfrm>
          <a:prstGeom prst="ellipse">
            <a:avLst/>
          </a:prstGeom>
          <a:solidFill>
            <a:srgbClr val="C9A227"/>
          </a:solidFill>
          <a:ln w="12700">
            <a:solidFill>
              <a:srgbClr val="C9A227"/>
            </a:solidFill>
            <a:prstDash val="solid"/>
          </a:ln>
        </p:spPr>
      </p:sp>
      <p:sp>
        <p:nvSpPr>
          <p:cNvPr id="27" name="Text 25"/>
          <p:cNvSpPr/>
          <p:nvPr/>
        </p:nvSpPr>
        <p:spPr>
          <a:xfrm>
            <a:off x="1207008" y="5532120"/>
            <a:ext cx="2286000" cy="274320"/>
          </a:xfrm>
          <a:prstGeom prst="rect">
            <a:avLst/>
          </a:prstGeom>
          <a:noFill/>
          <a:ln/>
        </p:spPr>
        <p:txBody>
          <a:bodyPr wrap="square" lIns="0" tIns="0" rIns="0" bIns="0" rtlCol="0" anchor="ctr"/>
          <a:lstStyle/>
          <a:p>
            <a:pPr indent="0" marL="0">
              <a:buNone/>
            </a:pPr>
            <a:r>
              <a:rPr lang="en-US" sz="1300" b="1" dirty="0">
                <a:solidFill>
                  <a:srgbClr val="1E3D2F"/>
                </a:solidFill>
                <a:latin typeface="Calibri" pitchFamily="34" charset="0"/>
                <a:ea typeface="Calibri" pitchFamily="34" charset="-122"/>
                <a:cs typeface="Calibri" pitchFamily="34" charset="-120"/>
              </a:rPr>
              <a:t>Guest mix &amp; length of stay</a:t>
            </a:r>
            <a:endParaRPr lang="en-US" sz="1300" dirty="0"/>
          </a:p>
        </p:txBody>
      </p:sp>
      <p:sp>
        <p:nvSpPr>
          <p:cNvPr id="28" name="Text 26"/>
          <p:cNvSpPr/>
          <p:nvPr/>
        </p:nvSpPr>
        <p:spPr>
          <a:xfrm>
            <a:off x="1207008" y="5824728"/>
            <a:ext cx="2286000" cy="256032"/>
          </a:xfrm>
          <a:prstGeom prst="rect">
            <a:avLst/>
          </a:prstGeom>
          <a:noFill/>
          <a:ln/>
        </p:spPr>
        <p:txBody>
          <a:bodyPr wrap="square" lIns="0" tIns="0" rIns="0" bIns="0" rtlCol="0" anchor="ctr"/>
          <a:lstStyle/>
          <a:p>
            <a:pPr indent="0" marL="0">
              <a:buNone/>
            </a:pPr>
            <a:r>
              <a:rPr lang="en-US" sz="1050" b="1" dirty="0">
                <a:solidFill>
                  <a:srgbClr val="C9A227"/>
                </a:solidFill>
                <a:latin typeface="Calibri" pitchFamily="34" charset="0"/>
                <a:ea typeface="Calibri" pitchFamily="34" charset="-122"/>
                <a:cs typeface="Calibri" pitchFamily="34" charset="-120"/>
              </a:rPr>
              <a:t>Not yet built</a:t>
            </a:r>
            <a:endParaRPr lang="en-US" sz="1050" dirty="0"/>
          </a:p>
        </p:txBody>
      </p:sp>
      <p:sp>
        <p:nvSpPr>
          <p:cNvPr id="29" name="Text 27"/>
          <p:cNvSpPr/>
          <p:nvPr/>
        </p:nvSpPr>
        <p:spPr>
          <a:xfrm>
            <a:off x="3657600" y="5541264"/>
            <a:ext cx="7040880" cy="566928"/>
          </a:xfrm>
          <a:prstGeom prst="rect">
            <a:avLst/>
          </a:prstGeom>
          <a:noFill/>
          <a:ln/>
        </p:spPr>
        <p:txBody>
          <a:bodyPr wrap="square" lIns="0" tIns="0" rIns="0" bIns="0" rtlCol="0" anchor="t"/>
          <a:lstStyle/>
          <a:p>
            <a:pPr indent="0" marL="0">
              <a:buNone/>
            </a:pPr>
            <a:r>
              <a:rPr lang="en-US" sz="1100" dirty="0">
                <a:solidFill>
                  <a:srgbClr val="22282B"/>
                </a:solidFill>
                <a:latin typeface="Calibri" pitchFamily="34" charset="0"/>
                <a:ea typeface="Calibri" pitchFamily="34" charset="-122"/>
                <a:cs typeface="Calibri" pitchFamily="34" charset="-120"/>
              </a:rPr>
              <a:t>Requires review-corpus analysis across platforms.</a:t>
            </a:r>
            <a:endParaRPr lang="en-US" sz="1100" dirty="0"/>
          </a:p>
        </p:txBody>
      </p:sp>
      <p:sp>
        <p:nvSpPr>
          <p:cNvPr id="30" name="Text 28"/>
          <p:cNvSpPr/>
          <p:nvPr/>
        </p:nvSpPr>
        <p:spPr>
          <a:xfrm>
            <a:off x="548640" y="6382512"/>
            <a:ext cx="11064240" cy="310896"/>
          </a:xfrm>
          <a:prstGeom prst="rect">
            <a:avLst/>
          </a:prstGeom>
          <a:noFill/>
          <a:ln/>
        </p:spPr>
        <p:txBody>
          <a:bodyPr wrap="square" lIns="0" tIns="0" rIns="0" bIns="0" rtlCol="0" anchor="ctr"/>
          <a:lstStyle/>
          <a:p>
            <a:pPr indent="0" marL="0">
              <a:buNone/>
            </a:pPr>
            <a:r>
              <a:rPr lang="en-US" sz="900" i="1" dirty="0">
                <a:solidFill>
                  <a:srgbClr val="6B7671"/>
                </a:solidFill>
                <a:latin typeface="Calibri" pitchFamily="34" charset="0"/>
                <a:ea typeface="Calibri" pitchFamily="34" charset="-122"/>
                <a:cs typeface="Calibri" pitchFamily="34" charset="-120"/>
              </a:rPr>
              <a:t>Mystery-shopping enquiries to the 24 properties would be the single highest-value addition to accuracy — not run here, as it means contacting real businesses under a pretext.</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E3D2F"/>
        </a:solidFill>
      </p:bgPr>
    </p:bg>
    <p:spTree>
      <p:nvGrpSpPr>
        <p:cNvPr id="1" name=""/>
        <p:cNvGrpSpPr/>
        <p:nvPr/>
      </p:nvGrpSpPr>
      <p:grpSpPr>
        <a:xfrm>
          <a:off x="0" y="0"/>
          <a:ext cx="0" cy="0"/>
          <a:chOff x="0" y="0"/>
          <a:chExt cx="0" cy="0"/>
        </a:xfrm>
      </p:grpSpPr>
      <p:sp>
        <p:nvSpPr>
          <p:cNvPr id="2" name="Shape 0"/>
          <p:cNvSpPr/>
          <p:nvPr/>
        </p:nvSpPr>
        <p:spPr>
          <a:xfrm>
            <a:off x="-2011680" y="4023360"/>
            <a:ext cx="5120640" cy="5120640"/>
          </a:xfrm>
          <a:prstGeom prst="ellipse">
            <a:avLst/>
          </a:prstGeom>
          <a:solidFill>
            <a:srgbClr val="27493A"/>
          </a:solidFill>
          <a:ln w="12700">
            <a:solidFill>
              <a:srgbClr val="27493A"/>
            </a:solidFill>
            <a:prstDash val="solid"/>
          </a:ln>
        </p:spPr>
      </p:sp>
      <p:sp>
        <p:nvSpPr>
          <p:cNvPr id="3" name="Text 1"/>
          <p:cNvSpPr/>
          <p:nvPr/>
        </p:nvSpPr>
        <p:spPr>
          <a:xfrm>
            <a:off x="548640" y="731520"/>
            <a:ext cx="7315200" cy="274320"/>
          </a:xfrm>
          <a:prstGeom prst="rect">
            <a:avLst/>
          </a:prstGeom>
          <a:noFill/>
          <a:ln/>
        </p:spPr>
        <p:txBody>
          <a:bodyPr wrap="square" lIns="0" tIns="0" rIns="0" bIns="0" rtlCol="0" anchor="ctr"/>
          <a:lstStyle/>
          <a:p>
            <a:pPr indent="0" marL="0">
              <a:buNone/>
            </a:pPr>
            <a:r>
              <a:rPr lang="en-US" sz="1200" b="1" spc="300" kern="0" dirty="0">
                <a:solidFill>
                  <a:srgbClr val="C9A227"/>
                </a:solidFill>
                <a:latin typeface="Calibri" pitchFamily="34" charset="0"/>
                <a:ea typeface="Calibri" pitchFamily="34" charset="-122"/>
                <a:cs typeface="Calibri" pitchFamily="34" charset="-120"/>
              </a:rPr>
              <a:t>WHAT HAPPENS NEXT</a:t>
            </a:r>
            <a:endParaRPr lang="en-US" sz="1200" dirty="0"/>
          </a:p>
        </p:txBody>
      </p:sp>
      <p:sp>
        <p:nvSpPr>
          <p:cNvPr id="4" name="Text 2"/>
          <p:cNvSpPr/>
          <p:nvPr/>
        </p:nvSpPr>
        <p:spPr>
          <a:xfrm>
            <a:off x="548640" y="1097280"/>
            <a:ext cx="8229600" cy="73152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Closing the gaps</a:t>
            </a:r>
            <a:endParaRPr lang="en-US" sz="3800" dirty="0"/>
          </a:p>
        </p:txBody>
      </p:sp>
      <p:sp>
        <p:nvSpPr>
          <p:cNvPr id="5" name="Shape 3"/>
          <p:cNvSpPr/>
          <p:nvPr/>
        </p:nvSpPr>
        <p:spPr>
          <a:xfrm>
            <a:off x="548640" y="2148840"/>
            <a:ext cx="10424160" cy="841248"/>
          </a:xfrm>
          <a:prstGeom prst="roundRect">
            <a:avLst>
              <a:gd name="adj" fmla="val 6522"/>
            </a:avLst>
          </a:prstGeom>
          <a:solidFill>
            <a:srgbClr val="2A5240"/>
          </a:solidFill>
          <a:ln w="9525">
            <a:solidFill>
              <a:srgbClr val="34614C"/>
            </a:solidFill>
            <a:prstDash val="solid"/>
          </a:ln>
        </p:spPr>
      </p:sp>
      <p:sp>
        <p:nvSpPr>
          <p:cNvPr id="6" name="Text 4"/>
          <p:cNvSpPr/>
          <p:nvPr/>
        </p:nvSpPr>
        <p:spPr>
          <a:xfrm>
            <a:off x="822960" y="2331720"/>
            <a:ext cx="457200" cy="457200"/>
          </a:xfrm>
          <a:prstGeom prst="rect">
            <a:avLst/>
          </a:prstGeom>
          <a:noFill/>
          <a:ln/>
        </p:spPr>
        <p:txBody>
          <a:bodyPr wrap="square" lIns="0" tIns="0" rIns="0" bIns="0" rtlCol="0" anchor="ctr"/>
          <a:lstStyle/>
          <a:p>
            <a:pPr algn="ctr" indent="0" marL="0">
              <a:buNone/>
            </a:pPr>
            <a:r>
              <a:rPr lang="en-US" sz="2200" b="1" dirty="0">
                <a:solidFill>
                  <a:srgbClr val="C9A227"/>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1463040" y="2276856"/>
            <a:ext cx="27432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Complete the panel</a:t>
            </a:r>
            <a:endParaRPr lang="en-US" sz="1350" dirty="0"/>
          </a:p>
        </p:txBody>
      </p:sp>
      <p:sp>
        <p:nvSpPr>
          <p:cNvPr id="8" name="Text 6"/>
          <p:cNvSpPr/>
          <p:nvPr/>
        </p:nvSpPr>
        <p:spPr>
          <a:xfrm>
            <a:off x="4343400" y="2267712"/>
            <a:ext cx="6355080" cy="621792"/>
          </a:xfrm>
          <a:prstGeom prst="rect">
            <a:avLst/>
          </a:prstGeom>
          <a:noFill/>
          <a:ln/>
        </p:spPr>
        <p:txBody>
          <a:bodyPr wrap="square" lIns="0" tIns="0" rIns="0" bIns="0" rtlCol="0" anchor="t"/>
          <a:lstStyle/>
          <a:p>
            <a:pPr indent="0" marL="0">
              <a:buNone/>
            </a:pPr>
            <a:r>
              <a:rPr lang="en-US" sz="1150" dirty="0">
                <a:solidFill>
                  <a:srgbClr val="C3D6C8"/>
                </a:solidFill>
                <a:latin typeface="Calibri" pitchFamily="34" charset="0"/>
                <a:ea typeface="Calibri" pitchFamily="34" charset="-122"/>
                <a:cs typeface="Calibri" pitchFamily="34" charset="-120"/>
              </a:rPr>
              <a:t>Key counts, land areas and rate cards for the 14 unverified properties — all obtainable from public company sources.</a:t>
            </a:r>
            <a:endParaRPr lang="en-US" sz="1150" dirty="0"/>
          </a:p>
        </p:txBody>
      </p:sp>
      <p:sp>
        <p:nvSpPr>
          <p:cNvPr id="9" name="Shape 7"/>
          <p:cNvSpPr/>
          <p:nvPr/>
        </p:nvSpPr>
        <p:spPr>
          <a:xfrm>
            <a:off x="548640" y="3081528"/>
            <a:ext cx="10424160" cy="841248"/>
          </a:xfrm>
          <a:prstGeom prst="roundRect">
            <a:avLst>
              <a:gd name="adj" fmla="val 6522"/>
            </a:avLst>
          </a:prstGeom>
          <a:solidFill>
            <a:srgbClr val="2A5240"/>
          </a:solidFill>
          <a:ln w="9525">
            <a:solidFill>
              <a:srgbClr val="34614C"/>
            </a:solidFill>
            <a:prstDash val="solid"/>
          </a:ln>
        </p:spPr>
      </p:sp>
      <p:sp>
        <p:nvSpPr>
          <p:cNvPr id="10" name="Text 8"/>
          <p:cNvSpPr/>
          <p:nvPr/>
        </p:nvSpPr>
        <p:spPr>
          <a:xfrm>
            <a:off x="822960" y="3264408"/>
            <a:ext cx="457200" cy="457200"/>
          </a:xfrm>
          <a:prstGeom prst="rect">
            <a:avLst/>
          </a:prstGeom>
          <a:noFill/>
          <a:ln/>
        </p:spPr>
        <p:txBody>
          <a:bodyPr wrap="square" lIns="0" tIns="0" rIns="0" bIns="0" rtlCol="0" anchor="ctr"/>
          <a:lstStyle/>
          <a:p>
            <a:pPr algn="ctr" indent="0" marL="0">
              <a:buNone/>
            </a:pPr>
            <a:r>
              <a:rPr lang="en-US" sz="2200" b="1" dirty="0">
                <a:solidFill>
                  <a:srgbClr val="C9A227"/>
                </a:solidFill>
                <a:latin typeface="Cambria" pitchFamily="34" charset="0"/>
                <a:ea typeface="Cambria" pitchFamily="34" charset="-122"/>
                <a:cs typeface="Cambria" pitchFamily="34" charset="-120"/>
              </a:rPr>
              <a:t>2</a:t>
            </a:r>
            <a:endParaRPr lang="en-US" sz="2200" dirty="0"/>
          </a:p>
        </p:txBody>
      </p:sp>
      <p:sp>
        <p:nvSpPr>
          <p:cNvPr id="11" name="Text 9"/>
          <p:cNvSpPr/>
          <p:nvPr/>
        </p:nvSpPr>
        <p:spPr>
          <a:xfrm>
            <a:off x="1463040" y="3209544"/>
            <a:ext cx="27432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Run availability sampling</a:t>
            </a:r>
            <a:endParaRPr lang="en-US" sz="1350" dirty="0"/>
          </a:p>
        </p:txBody>
      </p:sp>
      <p:sp>
        <p:nvSpPr>
          <p:cNvPr id="12" name="Text 10"/>
          <p:cNvSpPr/>
          <p:nvPr/>
        </p:nvSpPr>
        <p:spPr>
          <a:xfrm>
            <a:off x="4343400" y="3200400"/>
            <a:ext cx="6355080" cy="621792"/>
          </a:xfrm>
          <a:prstGeom prst="rect">
            <a:avLst/>
          </a:prstGeom>
          <a:noFill/>
          <a:ln/>
        </p:spPr>
        <p:txBody>
          <a:bodyPr wrap="square" lIns="0" tIns="0" rIns="0" bIns="0" rtlCol="0" anchor="t"/>
          <a:lstStyle/>
          <a:p>
            <a:pPr indent="0" marL="0">
              <a:buNone/>
            </a:pPr>
            <a:r>
              <a:rPr lang="en-US" sz="1150" dirty="0">
                <a:solidFill>
                  <a:srgbClr val="C3D6C8"/>
                </a:solidFill>
                <a:latin typeface="Calibri" pitchFamily="34" charset="0"/>
                <a:ea typeface="Calibri" pitchFamily="34" charset="-122"/>
                <a:cs typeface="Calibri" pitchFamily="34" charset="-120"/>
              </a:rPr>
              <a:t>Forward-calendar sampling at T-15/30/60/90 across the panel to replace T4 occupancy assumptions with T2 observations.</a:t>
            </a:r>
            <a:endParaRPr lang="en-US" sz="1150" dirty="0"/>
          </a:p>
        </p:txBody>
      </p:sp>
      <p:sp>
        <p:nvSpPr>
          <p:cNvPr id="13" name="Shape 11"/>
          <p:cNvSpPr/>
          <p:nvPr/>
        </p:nvSpPr>
        <p:spPr>
          <a:xfrm>
            <a:off x="548640" y="4014216"/>
            <a:ext cx="10424160" cy="841248"/>
          </a:xfrm>
          <a:prstGeom prst="roundRect">
            <a:avLst>
              <a:gd name="adj" fmla="val 6522"/>
            </a:avLst>
          </a:prstGeom>
          <a:solidFill>
            <a:srgbClr val="2A5240"/>
          </a:solidFill>
          <a:ln w="9525">
            <a:solidFill>
              <a:srgbClr val="34614C"/>
            </a:solidFill>
            <a:prstDash val="solid"/>
          </a:ln>
        </p:spPr>
      </p:sp>
      <p:sp>
        <p:nvSpPr>
          <p:cNvPr id="14" name="Text 12"/>
          <p:cNvSpPr/>
          <p:nvPr/>
        </p:nvSpPr>
        <p:spPr>
          <a:xfrm>
            <a:off x="822960" y="4197096"/>
            <a:ext cx="457200" cy="457200"/>
          </a:xfrm>
          <a:prstGeom prst="rect">
            <a:avLst/>
          </a:prstGeom>
          <a:noFill/>
          <a:ln/>
        </p:spPr>
        <p:txBody>
          <a:bodyPr wrap="square" lIns="0" tIns="0" rIns="0" bIns="0" rtlCol="0" anchor="ctr"/>
          <a:lstStyle/>
          <a:p>
            <a:pPr algn="ctr" indent="0" marL="0">
              <a:buNone/>
            </a:pPr>
            <a:r>
              <a:rPr lang="en-US" sz="2200" b="1" dirty="0">
                <a:solidFill>
                  <a:srgbClr val="C9A227"/>
                </a:solidFill>
                <a:latin typeface="Cambria" pitchFamily="34" charset="0"/>
                <a:ea typeface="Cambria" pitchFamily="34" charset="-122"/>
                <a:cs typeface="Cambria" pitchFamily="34" charset="-120"/>
              </a:rPr>
              <a:t>3</a:t>
            </a:r>
            <a:endParaRPr lang="en-US" sz="2200" dirty="0"/>
          </a:p>
        </p:txBody>
      </p:sp>
      <p:sp>
        <p:nvSpPr>
          <p:cNvPr id="15" name="Text 13"/>
          <p:cNvSpPr/>
          <p:nvPr/>
        </p:nvSpPr>
        <p:spPr>
          <a:xfrm>
            <a:off x="1463040" y="4142232"/>
            <a:ext cx="27432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Pull filings</a:t>
            </a:r>
            <a:endParaRPr lang="en-US" sz="1350" dirty="0"/>
          </a:p>
        </p:txBody>
      </p:sp>
      <p:sp>
        <p:nvSpPr>
          <p:cNvPr id="16" name="Text 14"/>
          <p:cNvSpPr/>
          <p:nvPr/>
        </p:nvSpPr>
        <p:spPr>
          <a:xfrm>
            <a:off x="4343400" y="4133088"/>
            <a:ext cx="6355080" cy="621792"/>
          </a:xfrm>
          <a:prstGeom prst="rect">
            <a:avLst/>
          </a:prstGeom>
          <a:noFill/>
          <a:ln/>
        </p:spPr>
        <p:txBody>
          <a:bodyPr wrap="square" lIns="0" tIns="0" rIns="0" bIns="0" rtlCol="0" anchor="t"/>
          <a:lstStyle/>
          <a:p>
            <a:pPr indent="0" marL="0">
              <a:buNone/>
            </a:pPr>
            <a:r>
              <a:rPr lang="en-US" sz="1150" dirty="0">
                <a:solidFill>
                  <a:srgbClr val="C3D6C8"/>
                </a:solidFill>
                <a:latin typeface="Calibri" pitchFamily="34" charset="0"/>
                <a:ea typeface="Calibri" pitchFamily="34" charset="-122"/>
                <a:cs typeface="Calibri" pitchFamily="34" charset="-120"/>
              </a:rPr>
              <a:t>MCA/RoC financials for identifiable operating entities — the step that converts the revenue model from directional to defensible.</a:t>
            </a:r>
            <a:endParaRPr lang="en-US" sz="1150" dirty="0"/>
          </a:p>
        </p:txBody>
      </p:sp>
      <p:sp>
        <p:nvSpPr>
          <p:cNvPr id="17" name="Shape 15"/>
          <p:cNvSpPr/>
          <p:nvPr/>
        </p:nvSpPr>
        <p:spPr>
          <a:xfrm>
            <a:off x="548640" y="4946904"/>
            <a:ext cx="10424160" cy="841248"/>
          </a:xfrm>
          <a:prstGeom prst="roundRect">
            <a:avLst>
              <a:gd name="adj" fmla="val 6522"/>
            </a:avLst>
          </a:prstGeom>
          <a:solidFill>
            <a:srgbClr val="2A5240"/>
          </a:solidFill>
          <a:ln w="9525">
            <a:solidFill>
              <a:srgbClr val="34614C"/>
            </a:solidFill>
            <a:prstDash val="solid"/>
          </a:ln>
        </p:spPr>
      </p:sp>
      <p:sp>
        <p:nvSpPr>
          <p:cNvPr id="18" name="Text 16"/>
          <p:cNvSpPr/>
          <p:nvPr/>
        </p:nvSpPr>
        <p:spPr>
          <a:xfrm>
            <a:off x="822960" y="5129784"/>
            <a:ext cx="457200" cy="457200"/>
          </a:xfrm>
          <a:prstGeom prst="rect">
            <a:avLst/>
          </a:prstGeom>
          <a:noFill/>
          <a:ln/>
        </p:spPr>
        <p:txBody>
          <a:bodyPr wrap="square" lIns="0" tIns="0" rIns="0" bIns="0" rtlCol="0" anchor="ctr"/>
          <a:lstStyle/>
          <a:p>
            <a:pPr algn="ctr" indent="0" marL="0">
              <a:buNone/>
            </a:pPr>
            <a:r>
              <a:rPr lang="en-US" sz="2200" b="1" dirty="0">
                <a:solidFill>
                  <a:srgbClr val="C9A227"/>
                </a:solidFill>
                <a:latin typeface="Cambria" pitchFamily="34" charset="0"/>
                <a:ea typeface="Cambria" pitchFamily="34" charset="-122"/>
                <a:cs typeface="Cambria" pitchFamily="34" charset="-120"/>
              </a:rPr>
              <a:t>4</a:t>
            </a:r>
            <a:endParaRPr lang="en-US" sz="2200" dirty="0"/>
          </a:p>
        </p:txBody>
      </p:sp>
      <p:sp>
        <p:nvSpPr>
          <p:cNvPr id="19" name="Text 17"/>
          <p:cNvSpPr/>
          <p:nvPr/>
        </p:nvSpPr>
        <p:spPr>
          <a:xfrm>
            <a:off x="1463040" y="5074920"/>
            <a:ext cx="2743200"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Build review-corpus analysis</a:t>
            </a:r>
            <a:endParaRPr lang="en-US" sz="1350" dirty="0"/>
          </a:p>
        </p:txBody>
      </p:sp>
      <p:sp>
        <p:nvSpPr>
          <p:cNvPr id="20" name="Text 18"/>
          <p:cNvSpPr/>
          <p:nvPr/>
        </p:nvSpPr>
        <p:spPr>
          <a:xfrm>
            <a:off x="4343400" y="5065776"/>
            <a:ext cx="6355080" cy="621792"/>
          </a:xfrm>
          <a:prstGeom prst="rect">
            <a:avLst/>
          </a:prstGeom>
          <a:noFill/>
          <a:ln/>
        </p:spPr>
        <p:txBody>
          <a:bodyPr wrap="square" lIns="0" tIns="0" rIns="0" bIns="0" rtlCol="0" anchor="t"/>
          <a:lstStyle/>
          <a:p>
            <a:pPr indent="0" marL="0">
              <a:buNone/>
            </a:pPr>
            <a:r>
              <a:rPr lang="en-US" sz="1150" dirty="0">
                <a:solidFill>
                  <a:srgbClr val="C3D6C8"/>
                </a:solidFill>
                <a:latin typeface="Calibri" pitchFamily="34" charset="0"/>
                <a:ea typeface="Calibri" pitchFamily="34" charset="-122"/>
                <a:cs typeface="Calibri" pitchFamily="34" charset="-120"/>
              </a:rPr>
              <a:t>Guest mix, length of stay, repeat behaviour and satisfaction drivers from platform review data.</a:t>
            </a:r>
            <a:endParaRPr lang="en-US" sz="1150" dirty="0"/>
          </a:p>
        </p:txBody>
      </p:sp>
      <p:sp>
        <p:nvSpPr>
          <p:cNvPr id="21" name="Text 19"/>
          <p:cNvSpPr/>
          <p:nvPr/>
        </p:nvSpPr>
        <p:spPr>
          <a:xfrm>
            <a:off x="548640" y="6144768"/>
            <a:ext cx="10424160" cy="274320"/>
          </a:xfrm>
          <a:prstGeom prst="rect">
            <a:avLst/>
          </a:prstGeom>
          <a:noFill/>
          <a:ln/>
        </p:spPr>
        <p:txBody>
          <a:bodyPr wrap="square" lIns="0" tIns="0" rIns="0" bIns="0" rtlCol="0" anchor="ctr"/>
          <a:lstStyle/>
          <a:p>
            <a:pPr indent="0" marL="0">
              <a:buNone/>
            </a:pPr>
            <a:r>
              <a:rPr lang="en-US" sz="1100" i="1" dirty="0">
                <a:solidFill>
                  <a:srgbClr val="7FA88B"/>
                </a:solidFill>
                <a:latin typeface="Calibri" pitchFamily="34" charset="0"/>
                <a:ea typeface="Calibri" pitchFamily="34" charset="-122"/>
                <a:cs typeface="Calibri" pitchFamily="34" charset="-120"/>
              </a:rPr>
              <a:t>Deliverables: master workbook (built) · this deck (v1) · Report A landowner view (structured)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 Wellness Retreats — Operating Analysis</dc:title>
  <dc:subject>PptxGenJS Presentation</dc:subject>
  <dc:creator>Wellness market research</dc:creator>
  <cp:lastModifiedBy>Wellness market research</cp:lastModifiedBy>
  <cp:revision>1</cp:revision>
  <dcterms:created xsi:type="dcterms:W3CDTF">2026-08-15T21:13:52Z</dcterms:created>
  <dcterms:modified xsi:type="dcterms:W3CDTF">2026-08-15T21:13:52Z</dcterms:modified>
</cp:coreProperties>
</file>